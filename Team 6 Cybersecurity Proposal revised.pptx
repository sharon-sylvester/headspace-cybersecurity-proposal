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1"/>
  </p:sldMasterIdLst>
  <p:notesMasterIdLst>
    <p:notesMasterId r:id="rId12"/>
  </p:notesMasterIdLst>
  <p:sldIdLst>
    <p:sldId id="256" r:id="rId2"/>
    <p:sldId id="257" r:id="rId3"/>
    <p:sldId id="265" r:id="rId4"/>
    <p:sldId id="266" r:id="rId5"/>
    <p:sldId id="267" r:id="rId6"/>
    <p:sldId id="258" r:id="rId7"/>
    <p:sldId id="269" r:id="rId8"/>
    <p:sldId id="268" r:id="rId9"/>
    <p:sldId id="264" r:id="rId10"/>
    <p:sldId id="261" r:id="rId11"/>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4" y="-4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241DA2-2F1F-492E-8534-3216E29623F4}"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9015844A-BBC5-409D-875A-B2AF7204FBA5}">
      <dgm:prSet/>
      <dgm:spPr/>
      <dgm:t>
        <a:bodyPr/>
        <a:lstStyle/>
        <a:p>
          <a:r>
            <a:rPr lang="en-US" b="1" i="0" dirty="0"/>
            <a:t>Take Inventory of Hardware &amp; Software Assets</a:t>
          </a:r>
          <a:endParaRPr lang="en-US" dirty="0"/>
        </a:p>
      </dgm:t>
    </dgm:pt>
    <dgm:pt modelId="{190B47FF-4742-47E7-B77A-AD9CF456700C}" type="parTrans" cxnId="{0C9E5FF8-B507-48FE-853F-0265CD5E3D06}">
      <dgm:prSet/>
      <dgm:spPr/>
      <dgm:t>
        <a:bodyPr/>
        <a:lstStyle/>
        <a:p>
          <a:endParaRPr lang="en-US"/>
        </a:p>
      </dgm:t>
    </dgm:pt>
    <dgm:pt modelId="{778A78DE-B357-4034-97C4-86AFE149A884}" type="sibTrans" cxnId="{0C9E5FF8-B507-48FE-853F-0265CD5E3D06}">
      <dgm:prSet/>
      <dgm:spPr/>
      <dgm:t>
        <a:bodyPr/>
        <a:lstStyle/>
        <a:p>
          <a:endParaRPr lang="en-US"/>
        </a:p>
      </dgm:t>
    </dgm:pt>
    <dgm:pt modelId="{C94E70DB-275B-45F1-B59F-047B7605B45C}">
      <dgm:prSet/>
      <dgm:spPr/>
      <dgm:t>
        <a:bodyPr/>
        <a:lstStyle/>
        <a:p>
          <a:r>
            <a:rPr lang="en-US" b="0" i="0"/>
            <a:t>a. Hardware Assets</a:t>
          </a:r>
          <a:endParaRPr lang="en-US"/>
        </a:p>
      </dgm:t>
    </dgm:pt>
    <dgm:pt modelId="{F5E2BF20-B009-426A-894E-97D752BB6B79}" type="parTrans" cxnId="{27608DDE-C972-49DF-8177-70D5EAECCF17}">
      <dgm:prSet/>
      <dgm:spPr/>
      <dgm:t>
        <a:bodyPr/>
        <a:lstStyle/>
        <a:p>
          <a:endParaRPr lang="en-US"/>
        </a:p>
      </dgm:t>
    </dgm:pt>
    <dgm:pt modelId="{B41412AB-C4B8-49A8-B08F-D2664E0C5C49}" type="sibTrans" cxnId="{27608DDE-C972-49DF-8177-70D5EAECCF17}">
      <dgm:prSet/>
      <dgm:spPr/>
      <dgm:t>
        <a:bodyPr/>
        <a:lstStyle/>
        <a:p>
          <a:endParaRPr lang="en-US"/>
        </a:p>
      </dgm:t>
    </dgm:pt>
    <dgm:pt modelId="{095C004F-1010-4E13-92D8-5C0CBE5C910F}">
      <dgm:prSet/>
      <dgm:spPr/>
      <dgm:t>
        <a:bodyPr/>
        <a:lstStyle/>
        <a:p>
          <a:r>
            <a:rPr lang="en-US" b="0" i="0" dirty="0" err="1"/>
            <a:t>i</a:t>
          </a:r>
          <a:r>
            <a:rPr lang="en-US" b="0" i="0" dirty="0"/>
            <a:t>. Actively manage, track, and correct end-user devices, including portable and mobile; network devices; </a:t>
          </a:r>
          <a:endParaRPr lang="en-US" dirty="0"/>
        </a:p>
      </dgm:t>
    </dgm:pt>
    <dgm:pt modelId="{0A04C5DF-431B-4C18-BE81-E2BEACD2A785}" type="parTrans" cxnId="{FCF26F2D-B478-45E5-B2F0-FB6EA4674F8F}">
      <dgm:prSet/>
      <dgm:spPr/>
      <dgm:t>
        <a:bodyPr/>
        <a:lstStyle/>
        <a:p>
          <a:endParaRPr lang="en-US"/>
        </a:p>
      </dgm:t>
    </dgm:pt>
    <dgm:pt modelId="{2B1E1BCE-653B-4AF4-B224-86E1F34B9769}" type="sibTrans" cxnId="{FCF26F2D-B478-45E5-B2F0-FB6EA4674F8F}">
      <dgm:prSet/>
      <dgm:spPr/>
      <dgm:t>
        <a:bodyPr/>
        <a:lstStyle/>
        <a:p>
          <a:endParaRPr lang="en-US"/>
        </a:p>
      </dgm:t>
    </dgm:pt>
    <dgm:pt modelId="{7AE5A46E-81F4-6046-AF53-5CE3B0AB6C84}">
      <dgm:prSet/>
      <dgm:spPr/>
      <dgm:t>
        <a:bodyPr/>
        <a:lstStyle/>
        <a:p>
          <a:endParaRPr lang="en-US"/>
        </a:p>
      </dgm:t>
    </dgm:pt>
    <dgm:pt modelId="{652B168F-DAB8-124A-A755-0B18348496A5}" type="parTrans" cxnId="{8E261454-000B-A647-8076-35E4B72A1CA5}">
      <dgm:prSet/>
      <dgm:spPr/>
      <dgm:t>
        <a:bodyPr/>
        <a:lstStyle/>
        <a:p>
          <a:endParaRPr lang="en-US"/>
        </a:p>
      </dgm:t>
    </dgm:pt>
    <dgm:pt modelId="{0B21E3D3-2EE6-A142-ACFF-60B06C24DE7C}" type="sibTrans" cxnId="{8E261454-000B-A647-8076-35E4B72A1CA5}">
      <dgm:prSet/>
      <dgm:spPr/>
      <dgm:t>
        <a:bodyPr/>
        <a:lstStyle/>
        <a:p>
          <a:endParaRPr lang="en-US"/>
        </a:p>
      </dgm:t>
    </dgm:pt>
    <dgm:pt modelId="{8A253498-4B00-7B43-A547-91B5426B5E52}">
      <dgm:prSet/>
      <dgm:spPr/>
      <dgm:t>
        <a:bodyPr/>
        <a:lstStyle/>
        <a:p>
          <a:r>
            <a:rPr lang="en-US" b="0" i="0" dirty="0"/>
            <a:t>B.    Software Assets    </a:t>
          </a:r>
          <a:endParaRPr lang="en-US" dirty="0"/>
        </a:p>
      </dgm:t>
    </dgm:pt>
    <dgm:pt modelId="{1E764D0B-9424-C847-915F-655E0B28ED22}" type="parTrans" cxnId="{050176CC-8D1A-3C40-B0D5-A2E1EB6922A3}">
      <dgm:prSet/>
      <dgm:spPr/>
      <dgm:t>
        <a:bodyPr/>
        <a:lstStyle/>
        <a:p>
          <a:endParaRPr lang="en-US"/>
        </a:p>
      </dgm:t>
    </dgm:pt>
    <dgm:pt modelId="{F0521A7F-0A65-3F49-B2A8-E4A19256F085}" type="sibTrans" cxnId="{050176CC-8D1A-3C40-B0D5-A2E1EB6922A3}">
      <dgm:prSet/>
      <dgm:spPr/>
      <dgm:t>
        <a:bodyPr/>
        <a:lstStyle/>
        <a:p>
          <a:endParaRPr lang="en-US"/>
        </a:p>
      </dgm:t>
    </dgm:pt>
    <dgm:pt modelId="{9A49F538-3FC5-D949-BBB8-8CF0CBC7EB98}">
      <dgm:prSet/>
      <dgm:spPr/>
      <dgm:t>
        <a:bodyPr/>
        <a:lstStyle/>
        <a:p>
          <a:r>
            <a:rPr lang="en-US" b="0" i="0" dirty="0"/>
            <a:t>ii.  Actively manage inventory, track, and correct all software (operating systems and applications) on the network only authorized software is installed and can execute</a:t>
          </a:r>
          <a:endParaRPr lang="en-US" dirty="0"/>
        </a:p>
      </dgm:t>
    </dgm:pt>
    <dgm:pt modelId="{CA621E76-8AA5-C244-B781-A44CB0DE9084}" type="parTrans" cxnId="{734D8A5C-DB0D-5C4C-9A9A-652B6EE36744}">
      <dgm:prSet/>
      <dgm:spPr/>
      <dgm:t>
        <a:bodyPr/>
        <a:lstStyle/>
        <a:p>
          <a:endParaRPr lang="en-US"/>
        </a:p>
      </dgm:t>
    </dgm:pt>
    <dgm:pt modelId="{7163969E-50EC-254D-9B2C-5443ABF31381}" type="sibTrans" cxnId="{734D8A5C-DB0D-5C4C-9A9A-652B6EE36744}">
      <dgm:prSet/>
      <dgm:spPr/>
      <dgm:t>
        <a:bodyPr/>
        <a:lstStyle/>
        <a:p>
          <a:endParaRPr lang="en-US"/>
        </a:p>
      </dgm:t>
    </dgm:pt>
    <dgm:pt modelId="{B130E633-8724-EE4E-AC52-7D20D8D81E58}">
      <dgm:prSet/>
      <dgm:spPr/>
      <dgm:t>
        <a:bodyPr/>
        <a:lstStyle/>
        <a:p>
          <a:r>
            <a:rPr lang="en-US" b="1" i="0"/>
            <a:t>HOW: Keep track of license expiration date and # of purchased licenses </a:t>
          </a:r>
          <a:r>
            <a:rPr lang="en-US" b="1" i="0" err="1"/>
            <a:t>i.e</a:t>
          </a:r>
          <a:r>
            <a:rPr lang="en-US" b="1" i="0"/>
            <a:t>, Windows, Excel? Implement an ‘Allow’ list which can be reassessed bi-annually. Otherwise employees must request permission</a:t>
          </a:r>
          <a:endParaRPr lang="en-US"/>
        </a:p>
      </dgm:t>
    </dgm:pt>
    <dgm:pt modelId="{8190D344-967C-2B46-A863-65D683CB1575}" type="parTrans" cxnId="{84CAAF69-CCE8-E241-9C86-EA235379F489}">
      <dgm:prSet/>
      <dgm:spPr/>
      <dgm:t>
        <a:bodyPr/>
        <a:lstStyle/>
        <a:p>
          <a:endParaRPr lang="en-US"/>
        </a:p>
      </dgm:t>
    </dgm:pt>
    <dgm:pt modelId="{8F0ACA8A-6A21-E946-8AE1-DAC7C75CFF2D}" type="sibTrans" cxnId="{84CAAF69-CCE8-E241-9C86-EA235379F489}">
      <dgm:prSet/>
      <dgm:spPr/>
      <dgm:t>
        <a:bodyPr/>
        <a:lstStyle/>
        <a:p>
          <a:endParaRPr lang="en-US"/>
        </a:p>
      </dgm:t>
    </dgm:pt>
    <dgm:pt modelId="{7389C81F-4B13-C046-955B-833564293779}">
      <dgm:prSet custT="1"/>
      <dgm:spPr/>
      <dgm:t>
        <a:bodyPr/>
        <a:lstStyle/>
        <a:p>
          <a:pPr>
            <a:buFont typeface="+mj-lt"/>
            <a:buNone/>
          </a:pPr>
          <a:r>
            <a:rPr lang="en-US" sz="1200" b="1" i="0" u="none"/>
            <a:t>Multi-factor Authentication(MFA)-</a:t>
          </a:r>
        </a:p>
        <a:p>
          <a:pPr>
            <a:buFont typeface="+mj-lt"/>
            <a:buNone/>
          </a:pPr>
          <a:r>
            <a:rPr lang="en-US" sz="1200" b="0" i="0" u="none"/>
            <a:t>Rather than just asking for a username and password, MFA requires the user to provide two or more verification factors (such as SMS text message with code) to gain access to accounts and the network.</a:t>
          </a:r>
        </a:p>
      </dgm:t>
    </dgm:pt>
    <dgm:pt modelId="{DD422D8A-0B24-C640-A74F-F47515B5DFF8}" type="parTrans" cxnId="{1541732A-C3CD-4C4D-9D27-745D4F952F45}">
      <dgm:prSet/>
      <dgm:spPr/>
      <dgm:t>
        <a:bodyPr/>
        <a:lstStyle/>
        <a:p>
          <a:endParaRPr lang="en-US"/>
        </a:p>
      </dgm:t>
    </dgm:pt>
    <dgm:pt modelId="{A8CFC444-53AF-ED48-8FB0-4E47635736E9}" type="sibTrans" cxnId="{1541732A-C3CD-4C4D-9D27-745D4F952F45}">
      <dgm:prSet/>
      <dgm:spPr/>
      <dgm:t>
        <a:bodyPr/>
        <a:lstStyle/>
        <a:p>
          <a:endParaRPr lang="en-US"/>
        </a:p>
      </dgm:t>
    </dgm:pt>
    <dgm:pt modelId="{BFA5B807-8F71-4E4C-ACB0-360666C9BE40}">
      <dgm:prSet/>
      <dgm:spPr/>
      <dgm:t>
        <a:bodyPr/>
        <a:lstStyle/>
        <a:p>
          <a:endParaRPr lang="en-US" dirty="0"/>
        </a:p>
      </dgm:t>
    </dgm:pt>
    <dgm:pt modelId="{EFE432DD-14D7-094F-8FEC-634BEF4FFF79}" type="parTrans" cxnId="{9285BDB8-5728-2542-BB93-AE1C13C602DA}">
      <dgm:prSet/>
      <dgm:spPr/>
      <dgm:t>
        <a:bodyPr/>
        <a:lstStyle/>
        <a:p>
          <a:endParaRPr lang="en-US"/>
        </a:p>
      </dgm:t>
    </dgm:pt>
    <dgm:pt modelId="{3903D975-F65B-5245-A2E9-5C554CAA6D07}" type="sibTrans" cxnId="{9285BDB8-5728-2542-BB93-AE1C13C602DA}">
      <dgm:prSet/>
      <dgm:spPr/>
      <dgm:t>
        <a:bodyPr/>
        <a:lstStyle/>
        <a:p>
          <a:endParaRPr lang="en-US"/>
        </a:p>
      </dgm:t>
    </dgm:pt>
    <dgm:pt modelId="{5C326414-208F-4355-A4F5-208FA3F25DE2}">
      <dgm:prSet/>
      <dgm:spPr/>
      <dgm:t>
        <a:bodyPr/>
        <a:lstStyle/>
        <a:p>
          <a:r>
            <a:rPr lang="en-US" b="0" i="0" dirty="0"/>
            <a:t>HOW: use </a:t>
          </a:r>
          <a:r>
            <a:rPr lang="en-US" b="1" i="0" dirty="0"/>
            <a:t>asset tags</a:t>
          </a:r>
          <a:r>
            <a:rPr lang="en-US" b="0" i="0" dirty="0"/>
            <a:t>, </a:t>
          </a:r>
          <a:r>
            <a:rPr lang="en-US" b="1" i="0" dirty="0"/>
            <a:t>decommission any unused hardware according to asset tag #</a:t>
          </a:r>
          <a:endParaRPr lang="en-US" dirty="0"/>
        </a:p>
      </dgm:t>
    </dgm:pt>
    <dgm:pt modelId="{DC5097C7-DF04-4336-B964-6C58FA87C8FE}" type="parTrans" cxnId="{D4318128-341A-4E51-BDC9-4214B8DD9334}">
      <dgm:prSet/>
      <dgm:spPr/>
    </dgm:pt>
    <dgm:pt modelId="{4E2A7663-38E9-4009-99C8-C556F07C533B}" type="sibTrans" cxnId="{D4318128-341A-4E51-BDC9-4214B8DD9334}">
      <dgm:prSet/>
      <dgm:spPr/>
    </dgm:pt>
    <dgm:pt modelId="{BEDB6A1C-D2FB-AA46-BD23-FEAF1E574952}" type="pres">
      <dgm:prSet presAssocID="{3C241DA2-2F1F-492E-8534-3216E29623F4}" presName="cycle" presStyleCnt="0">
        <dgm:presLayoutVars>
          <dgm:dir/>
          <dgm:resizeHandles val="exact"/>
        </dgm:presLayoutVars>
      </dgm:prSet>
      <dgm:spPr/>
    </dgm:pt>
    <dgm:pt modelId="{FFE6627A-EB36-9341-B8A7-9CB6FBA88847}" type="pres">
      <dgm:prSet presAssocID="{9015844A-BBC5-409D-875A-B2AF7204FBA5}" presName="node" presStyleLbl="node1" presStyleIdx="0" presStyleCnt="2">
        <dgm:presLayoutVars>
          <dgm:bulletEnabled val="1"/>
        </dgm:presLayoutVars>
      </dgm:prSet>
      <dgm:spPr/>
    </dgm:pt>
    <dgm:pt modelId="{68B5B3A1-F512-C842-B3F3-2107D681D69D}" type="pres">
      <dgm:prSet presAssocID="{778A78DE-B357-4034-97C4-86AFE149A884}" presName="sibTrans" presStyleLbl="sibTrans2D1" presStyleIdx="0" presStyleCnt="2"/>
      <dgm:spPr/>
    </dgm:pt>
    <dgm:pt modelId="{5B61DA35-9753-204E-85C3-7D30321D95DE}" type="pres">
      <dgm:prSet presAssocID="{778A78DE-B357-4034-97C4-86AFE149A884}" presName="connectorText" presStyleLbl="sibTrans2D1" presStyleIdx="0" presStyleCnt="2"/>
      <dgm:spPr/>
    </dgm:pt>
    <dgm:pt modelId="{DCD9D613-A023-5446-A34F-D8BDBF644592}" type="pres">
      <dgm:prSet presAssocID="{7389C81F-4B13-C046-955B-833564293779}" presName="node" presStyleLbl="node1" presStyleIdx="1" presStyleCnt="2">
        <dgm:presLayoutVars>
          <dgm:bulletEnabled val="1"/>
        </dgm:presLayoutVars>
      </dgm:prSet>
      <dgm:spPr/>
    </dgm:pt>
    <dgm:pt modelId="{6F137EBF-FEAF-9F47-AD34-CBAD1C8B2DD8}" type="pres">
      <dgm:prSet presAssocID="{A8CFC444-53AF-ED48-8FB0-4E47635736E9}" presName="sibTrans" presStyleLbl="sibTrans2D1" presStyleIdx="1" presStyleCnt="2"/>
      <dgm:spPr/>
    </dgm:pt>
    <dgm:pt modelId="{0B88691C-37BB-8941-A440-D6E89B80C4DB}" type="pres">
      <dgm:prSet presAssocID="{A8CFC444-53AF-ED48-8FB0-4E47635736E9}" presName="connectorText" presStyleLbl="sibTrans2D1" presStyleIdx="1" presStyleCnt="2"/>
      <dgm:spPr/>
    </dgm:pt>
  </dgm:ptLst>
  <dgm:cxnLst>
    <dgm:cxn modelId="{D4318128-341A-4E51-BDC9-4214B8DD9334}" srcId="{C94E70DB-275B-45F1-B59F-047B7605B45C}" destId="{5C326414-208F-4355-A4F5-208FA3F25DE2}" srcOrd="1" destOrd="0" parTransId="{DC5097C7-DF04-4336-B964-6C58FA87C8FE}" sibTransId="{4E2A7663-38E9-4009-99C8-C556F07C533B}"/>
    <dgm:cxn modelId="{1541732A-C3CD-4C4D-9D27-745D4F952F45}" srcId="{3C241DA2-2F1F-492E-8534-3216E29623F4}" destId="{7389C81F-4B13-C046-955B-833564293779}" srcOrd="1" destOrd="0" parTransId="{DD422D8A-0B24-C640-A74F-F47515B5DFF8}" sibTransId="{A8CFC444-53AF-ED48-8FB0-4E47635736E9}"/>
    <dgm:cxn modelId="{FCF26F2D-B478-45E5-B2F0-FB6EA4674F8F}" srcId="{C94E70DB-275B-45F1-B59F-047B7605B45C}" destId="{095C004F-1010-4E13-92D8-5C0CBE5C910F}" srcOrd="0" destOrd="0" parTransId="{0A04C5DF-431B-4C18-BE81-E2BEACD2A785}" sibTransId="{2B1E1BCE-653B-4AF4-B224-86E1F34B9769}"/>
    <dgm:cxn modelId="{ED012B3B-832C-6C44-AF91-F31E1ABF88D1}" type="presOf" srcId="{B130E633-8724-EE4E-AC52-7D20D8D81E58}" destId="{FFE6627A-EB36-9341-B8A7-9CB6FBA88847}" srcOrd="0" destOrd="7" presId="urn:microsoft.com/office/officeart/2005/8/layout/cycle2"/>
    <dgm:cxn modelId="{F701F03B-35C8-4C40-8FE2-AAE6E64AC51F}" type="presOf" srcId="{7AE5A46E-81F4-6046-AF53-5CE3B0AB6C84}" destId="{FFE6627A-EB36-9341-B8A7-9CB6FBA88847}" srcOrd="0" destOrd="8" presId="urn:microsoft.com/office/officeart/2005/8/layout/cycle2"/>
    <dgm:cxn modelId="{848C8E5B-EB58-0D42-9842-A03F1EAA7FC5}" type="presOf" srcId="{3C241DA2-2F1F-492E-8534-3216E29623F4}" destId="{BEDB6A1C-D2FB-AA46-BD23-FEAF1E574952}" srcOrd="0" destOrd="0" presId="urn:microsoft.com/office/officeart/2005/8/layout/cycle2"/>
    <dgm:cxn modelId="{734D8A5C-DB0D-5C4C-9A9A-652B6EE36744}" srcId="{8A253498-4B00-7B43-A547-91B5426B5E52}" destId="{9A49F538-3FC5-D949-BBB8-8CF0CBC7EB98}" srcOrd="0" destOrd="0" parTransId="{CA621E76-8AA5-C244-B781-A44CB0DE9084}" sibTransId="{7163969E-50EC-254D-9B2C-5443ABF31381}"/>
    <dgm:cxn modelId="{4324E662-5E8C-154D-A156-9DE3E3160DA4}" type="presOf" srcId="{9015844A-BBC5-409D-875A-B2AF7204FBA5}" destId="{FFE6627A-EB36-9341-B8A7-9CB6FBA88847}" srcOrd="0" destOrd="0" presId="urn:microsoft.com/office/officeart/2005/8/layout/cycle2"/>
    <dgm:cxn modelId="{AD50E665-5802-D244-A118-CB015C14E897}" type="presOf" srcId="{8A253498-4B00-7B43-A547-91B5426B5E52}" destId="{FFE6627A-EB36-9341-B8A7-9CB6FBA88847}" srcOrd="0" destOrd="5" presId="urn:microsoft.com/office/officeart/2005/8/layout/cycle2"/>
    <dgm:cxn modelId="{84CAAF69-CCE8-E241-9C86-EA235379F489}" srcId="{9A49F538-3FC5-D949-BBB8-8CF0CBC7EB98}" destId="{B130E633-8724-EE4E-AC52-7D20D8D81E58}" srcOrd="0" destOrd="0" parTransId="{8190D344-967C-2B46-A863-65D683CB1575}" sibTransId="{8F0ACA8A-6A21-E946-8AE1-DAC7C75CFF2D}"/>
    <dgm:cxn modelId="{8E261454-000B-A647-8076-35E4B72A1CA5}" srcId="{BFA5B807-8F71-4E4C-ACB0-360666C9BE40}" destId="{7AE5A46E-81F4-6046-AF53-5CE3B0AB6C84}" srcOrd="1" destOrd="0" parTransId="{652B168F-DAB8-124A-A755-0B18348496A5}" sibTransId="{0B21E3D3-2EE6-A142-ACFF-60B06C24DE7C}"/>
    <dgm:cxn modelId="{3C1B827F-B3A2-E14B-A9CF-48897360D8C1}" type="presOf" srcId="{BFA5B807-8F71-4E4C-ACB0-360666C9BE40}" destId="{FFE6627A-EB36-9341-B8A7-9CB6FBA88847}" srcOrd="0" destOrd="4" presId="urn:microsoft.com/office/officeart/2005/8/layout/cycle2"/>
    <dgm:cxn modelId="{B7EA5A84-D8FF-4B2B-9184-265EC618AA46}" type="presOf" srcId="{5C326414-208F-4355-A4F5-208FA3F25DE2}" destId="{FFE6627A-EB36-9341-B8A7-9CB6FBA88847}" srcOrd="0" destOrd="3" presId="urn:microsoft.com/office/officeart/2005/8/layout/cycle2"/>
    <dgm:cxn modelId="{6666D485-F1C6-4A4D-80C1-576F4794EA2D}" type="presOf" srcId="{095C004F-1010-4E13-92D8-5C0CBE5C910F}" destId="{FFE6627A-EB36-9341-B8A7-9CB6FBA88847}" srcOrd="0" destOrd="2" presId="urn:microsoft.com/office/officeart/2005/8/layout/cycle2"/>
    <dgm:cxn modelId="{E77ACC94-CB3C-BC40-BE2D-11DDD6A26B20}" type="presOf" srcId="{C94E70DB-275B-45F1-B59F-047B7605B45C}" destId="{FFE6627A-EB36-9341-B8A7-9CB6FBA88847}" srcOrd="0" destOrd="1" presId="urn:microsoft.com/office/officeart/2005/8/layout/cycle2"/>
    <dgm:cxn modelId="{9285BDB8-5728-2542-BB93-AE1C13C602DA}" srcId="{9015844A-BBC5-409D-875A-B2AF7204FBA5}" destId="{BFA5B807-8F71-4E4C-ACB0-360666C9BE40}" srcOrd="1" destOrd="0" parTransId="{EFE432DD-14D7-094F-8FEC-634BEF4FFF79}" sibTransId="{3903D975-F65B-5245-A2E9-5C554CAA6D07}"/>
    <dgm:cxn modelId="{4543D1CA-178E-894F-86A3-CE2ADD30BA39}" type="presOf" srcId="{778A78DE-B357-4034-97C4-86AFE149A884}" destId="{68B5B3A1-F512-C842-B3F3-2107D681D69D}" srcOrd="0" destOrd="0" presId="urn:microsoft.com/office/officeart/2005/8/layout/cycle2"/>
    <dgm:cxn modelId="{050176CC-8D1A-3C40-B0D5-A2E1EB6922A3}" srcId="{BFA5B807-8F71-4E4C-ACB0-360666C9BE40}" destId="{8A253498-4B00-7B43-A547-91B5426B5E52}" srcOrd="0" destOrd="0" parTransId="{1E764D0B-9424-C847-915F-655E0B28ED22}" sibTransId="{F0521A7F-0A65-3F49-B2A8-E4A19256F085}"/>
    <dgm:cxn modelId="{30E5C0DC-0CDC-0747-80B1-D2DD1CFEFD0C}" type="presOf" srcId="{778A78DE-B357-4034-97C4-86AFE149A884}" destId="{5B61DA35-9753-204E-85C3-7D30321D95DE}" srcOrd="1" destOrd="0" presId="urn:microsoft.com/office/officeart/2005/8/layout/cycle2"/>
    <dgm:cxn modelId="{27608DDE-C972-49DF-8177-70D5EAECCF17}" srcId="{9015844A-BBC5-409D-875A-B2AF7204FBA5}" destId="{C94E70DB-275B-45F1-B59F-047B7605B45C}" srcOrd="0" destOrd="0" parTransId="{F5E2BF20-B009-426A-894E-97D752BB6B79}" sibTransId="{B41412AB-C4B8-49A8-B08F-D2664E0C5C49}"/>
    <dgm:cxn modelId="{32C9BCE5-4B6A-464F-97A7-330406B5A615}" type="presOf" srcId="{7389C81F-4B13-C046-955B-833564293779}" destId="{DCD9D613-A023-5446-A34F-D8BDBF644592}" srcOrd="0" destOrd="0" presId="urn:microsoft.com/office/officeart/2005/8/layout/cycle2"/>
    <dgm:cxn modelId="{7946FFEF-CC4D-5347-8142-11788D4B8280}" type="presOf" srcId="{A8CFC444-53AF-ED48-8FB0-4E47635736E9}" destId="{6F137EBF-FEAF-9F47-AD34-CBAD1C8B2DD8}" srcOrd="0" destOrd="0" presId="urn:microsoft.com/office/officeart/2005/8/layout/cycle2"/>
    <dgm:cxn modelId="{B10144F1-9389-D14F-8E9F-FAFD55E3E1FE}" type="presOf" srcId="{9A49F538-3FC5-D949-BBB8-8CF0CBC7EB98}" destId="{FFE6627A-EB36-9341-B8A7-9CB6FBA88847}" srcOrd="0" destOrd="6" presId="urn:microsoft.com/office/officeart/2005/8/layout/cycle2"/>
    <dgm:cxn modelId="{0C9E5FF8-B507-48FE-853F-0265CD5E3D06}" srcId="{3C241DA2-2F1F-492E-8534-3216E29623F4}" destId="{9015844A-BBC5-409D-875A-B2AF7204FBA5}" srcOrd="0" destOrd="0" parTransId="{190B47FF-4742-47E7-B77A-AD9CF456700C}" sibTransId="{778A78DE-B357-4034-97C4-86AFE149A884}"/>
    <dgm:cxn modelId="{0A0DA7F8-2432-C648-A001-176F1ED616C5}" type="presOf" srcId="{A8CFC444-53AF-ED48-8FB0-4E47635736E9}" destId="{0B88691C-37BB-8941-A440-D6E89B80C4DB}" srcOrd="1" destOrd="0" presId="urn:microsoft.com/office/officeart/2005/8/layout/cycle2"/>
    <dgm:cxn modelId="{17723761-77F4-BB4F-AC83-CB60AB388AA8}" type="presParOf" srcId="{BEDB6A1C-D2FB-AA46-BD23-FEAF1E574952}" destId="{FFE6627A-EB36-9341-B8A7-9CB6FBA88847}" srcOrd="0" destOrd="0" presId="urn:microsoft.com/office/officeart/2005/8/layout/cycle2"/>
    <dgm:cxn modelId="{8BE2A6D7-ACFF-0043-9661-14AB11834F31}" type="presParOf" srcId="{BEDB6A1C-D2FB-AA46-BD23-FEAF1E574952}" destId="{68B5B3A1-F512-C842-B3F3-2107D681D69D}" srcOrd="1" destOrd="0" presId="urn:microsoft.com/office/officeart/2005/8/layout/cycle2"/>
    <dgm:cxn modelId="{B9BB7237-7FEF-3E43-9C06-E91F75C4E004}" type="presParOf" srcId="{68B5B3A1-F512-C842-B3F3-2107D681D69D}" destId="{5B61DA35-9753-204E-85C3-7D30321D95DE}" srcOrd="0" destOrd="0" presId="urn:microsoft.com/office/officeart/2005/8/layout/cycle2"/>
    <dgm:cxn modelId="{B0C30BF0-A8D2-5C40-8A22-375B6D2B0860}" type="presParOf" srcId="{BEDB6A1C-D2FB-AA46-BD23-FEAF1E574952}" destId="{DCD9D613-A023-5446-A34F-D8BDBF644592}" srcOrd="2" destOrd="0" presId="urn:microsoft.com/office/officeart/2005/8/layout/cycle2"/>
    <dgm:cxn modelId="{E5B1F9DE-6F61-6A44-B5F8-D48AEFEBC057}" type="presParOf" srcId="{BEDB6A1C-D2FB-AA46-BD23-FEAF1E574952}" destId="{6F137EBF-FEAF-9F47-AD34-CBAD1C8B2DD8}" srcOrd="3" destOrd="0" presId="urn:microsoft.com/office/officeart/2005/8/layout/cycle2"/>
    <dgm:cxn modelId="{376D5CBB-F68E-6642-9195-657C15A7DE3A}" type="presParOf" srcId="{6F137EBF-FEAF-9F47-AD34-CBAD1C8B2DD8}" destId="{0B88691C-37BB-8941-A440-D6E89B80C4D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CFB67A-3562-481A-A888-673EB7D14CB2}" type="doc">
      <dgm:prSet loTypeId="urn:microsoft.com/office/officeart/2005/8/layout/hProcess9" loCatId="process" qsTypeId="urn:microsoft.com/office/officeart/2005/8/quickstyle/simple4" qsCatId="simple" csTypeId="urn:microsoft.com/office/officeart/2005/8/colors/colorful1" csCatId="colorful"/>
      <dgm:spPr/>
      <dgm:t>
        <a:bodyPr/>
        <a:lstStyle/>
        <a:p>
          <a:endParaRPr lang="en-US"/>
        </a:p>
      </dgm:t>
    </dgm:pt>
    <dgm:pt modelId="{52CF2B3E-BB4D-47D7-B545-F823385AFB16}">
      <dgm:prSet/>
      <dgm:spPr/>
      <dgm:t>
        <a:bodyPr/>
        <a:lstStyle/>
        <a:p>
          <a:r>
            <a:rPr lang="en-US"/>
            <a:t>Identifying Risks</a:t>
          </a:r>
        </a:p>
      </dgm:t>
    </dgm:pt>
    <dgm:pt modelId="{C5EEF8C9-2D97-441D-AEE0-6949C5FBAEF1}" type="parTrans" cxnId="{B9CA0DAF-9004-431C-A07D-CB08CDCBB967}">
      <dgm:prSet/>
      <dgm:spPr/>
      <dgm:t>
        <a:bodyPr/>
        <a:lstStyle/>
        <a:p>
          <a:endParaRPr lang="en-US"/>
        </a:p>
      </dgm:t>
    </dgm:pt>
    <dgm:pt modelId="{153D9031-C35A-4BDF-B454-DC709E97FE03}" type="sibTrans" cxnId="{B9CA0DAF-9004-431C-A07D-CB08CDCBB967}">
      <dgm:prSet/>
      <dgm:spPr/>
      <dgm:t>
        <a:bodyPr/>
        <a:lstStyle/>
        <a:p>
          <a:endParaRPr lang="en-US"/>
        </a:p>
      </dgm:t>
    </dgm:pt>
    <dgm:pt modelId="{7F4584B1-CE89-414B-8B5D-430DCB4F493F}">
      <dgm:prSet/>
      <dgm:spPr/>
      <dgm:t>
        <a:bodyPr/>
        <a:lstStyle/>
        <a:p>
          <a:r>
            <a:rPr lang="en-US"/>
            <a:t>Third Party Exposure </a:t>
          </a:r>
        </a:p>
      </dgm:t>
    </dgm:pt>
    <dgm:pt modelId="{93A78348-A93B-4496-A587-A212BA039BF7}" type="parTrans" cxnId="{0A4A81D7-63C8-4746-B5E7-DB75CBDD44DB}">
      <dgm:prSet/>
      <dgm:spPr/>
      <dgm:t>
        <a:bodyPr/>
        <a:lstStyle/>
        <a:p>
          <a:endParaRPr lang="en-US"/>
        </a:p>
      </dgm:t>
    </dgm:pt>
    <dgm:pt modelId="{6736B6AB-7962-45DC-91A7-402EF04D0EBC}" type="sibTrans" cxnId="{0A4A81D7-63C8-4746-B5E7-DB75CBDD44DB}">
      <dgm:prSet/>
      <dgm:spPr/>
      <dgm:t>
        <a:bodyPr/>
        <a:lstStyle/>
        <a:p>
          <a:endParaRPr lang="en-US"/>
        </a:p>
      </dgm:t>
    </dgm:pt>
    <dgm:pt modelId="{8B3257BF-7E71-4B28-96B3-B469DC41D6DB}">
      <dgm:prSet/>
      <dgm:spPr/>
      <dgm:t>
        <a:bodyPr/>
        <a:lstStyle/>
        <a:p>
          <a:r>
            <a:rPr lang="en-US"/>
            <a:t>Unauthorized Risks</a:t>
          </a:r>
        </a:p>
      </dgm:t>
    </dgm:pt>
    <dgm:pt modelId="{4B58E9F8-528D-43FF-8A84-3124F58F95AE}" type="parTrans" cxnId="{D2D732CC-7BBB-4F08-A338-5EF1C8D3E325}">
      <dgm:prSet/>
      <dgm:spPr/>
      <dgm:t>
        <a:bodyPr/>
        <a:lstStyle/>
        <a:p>
          <a:endParaRPr lang="en-US"/>
        </a:p>
      </dgm:t>
    </dgm:pt>
    <dgm:pt modelId="{1C3934F8-CDC3-425A-B786-B99B5F2C1CE7}" type="sibTrans" cxnId="{D2D732CC-7BBB-4F08-A338-5EF1C8D3E325}">
      <dgm:prSet/>
      <dgm:spPr/>
      <dgm:t>
        <a:bodyPr/>
        <a:lstStyle/>
        <a:p>
          <a:endParaRPr lang="en-US"/>
        </a:p>
      </dgm:t>
    </dgm:pt>
    <dgm:pt modelId="{D27D1080-EE84-49BF-BA0B-67D68EEFB463}">
      <dgm:prSet/>
      <dgm:spPr/>
      <dgm:t>
        <a:bodyPr/>
        <a:lstStyle/>
        <a:p>
          <a:r>
            <a:rPr lang="en-US"/>
            <a:t>Corruption of Data</a:t>
          </a:r>
        </a:p>
      </dgm:t>
    </dgm:pt>
    <dgm:pt modelId="{A5F4CA02-1021-4C5A-910E-75DEC84A6C02}" type="parTrans" cxnId="{0765441C-EA0B-4961-A9EB-9489C64C1808}">
      <dgm:prSet/>
      <dgm:spPr/>
      <dgm:t>
        <a:bodyPr/>
        <a:lstStyle/>
        <a:p>
          <a:endParaRPr lang="en-US"/>
        </a:p>
      </dgm:t>
    </dgm:pt>
    <dgm:pt modelId="{900B065D-F029-4CB2-9F07-AEB5E8337A0B}" type="sibTrans" cxnId="{0765441C-EA0B-4961-A9EB-9489C64C1808}">
      <dgm:prSet/>
      <dgm:spPr/>
      <dgm:t>
        <a:bodyPr/>
        <a:lstStyle/>
        <a:p>
          <a:endParaRPr lang="en-US"/>
        </a:p>
      </dgm:t>
    </dgm:pt>
    <dgm:pt modelId="{C3FED5DA-A338-415C-84CA-715429314DD0}">
      <dgm:prSet/>
      <dgm:spPr/>
      <dgm:t>
        <a:bodyPr/>
        <a:lstStyle/>
        <a:p>
          <a:r>
            <a:rPr lang="en-US"/>
            <a:t>Poor Data Management</a:t>
          </a:r>
        </a:p>
      </dgm:t>
    </dgm:pt>
    <dgm:pt modelId="{74DE0D43-67D1-4FAA-8FC4-2784DF11160A}" type="parTrans" cxnId="{89347263-ACE7-4C99-B2D2-BAB9B90BAC45}">
      <dgm:prSet/>
      <dgm:spPr/>
      <dgm:t>
        <a:bodyPr/>
        <a:lstStyle/>
        <a:p>
          <a:endParaRPr lang="en-US"/>
        </a:p>
      </dgm:t>
    </dgm:pt>
    <dgm:pt modelId="{CB450D61-F065-4AF4-AF91-A95EE443C1A9}" type="sibTrans" cxnId="{89347263-ACE7-4C99-B2D2-BAB9B90BAC45}">
      <dgm:prSet/>
      <dgm:spPr/>
      <dgm:t>
        <a:bodyPr/>
        <a:lstStyle/>
        <a:p>
          <a:endParaRPr lang="en-US"/>
        </a:p>
      </dgm:t>
    </dgm:pt>
    <dgm:pt modelId="{38E83467-0C5D-4CC6-86CC-D874C3D87840}">
      <dgm:prSet/>
      <dgm:spPr/>
      <dgm:t>
        <a:bodyPr/>
        <a:lstStyle/>
        <a:p>
          <a:r>
            <a:rPr lang="en-US"/>
            <a:t>Strategies &amp; Tactics</a:t>
          </a:r>
        </a:p>
      </dgm:t>
    </dgm:pt>
    <dgm:pt modelId="{04276887-94AA-46F9-B8F5-1F3CCE9382F6}" type="parTrans" cxnId="{35BED3BC-DF87-40FD-A157-ED525F5991B2}">
      <dgm:prSet/>
      <dgm:spPr/>
      <dgm:t>
        <a:bodyPr/>
        <a:lstStyle/>
        <a:p>
          <a:endParaRPr lang="en-US"/>
        </a:p>
      </dgm:t>
    </dgm:pt>
    <dgm:pt modelId="{1D81425A-1DFE-46A1-9BD6-94E00806103D}" type="sibTrans" cxnId="{35BED3BC-DF87-40FD-A157-ED525F5991B2}">
      <dgm:prSet/>
      <dgm:spPr/>
      <dgm:t>
        <a:bodyPr/>
        <a:lstStyle/>
        <a:p>
          <a:endParaRPr lang="en-US"/>
        </a:p>
      </dgm:t>
    </dgm:pt>
    <dgm:pt modelId="{AF93A81A-E807-4985-8304-5BE5179FB627}">
      <dgm:prSet/>
      <dgm:spPr/>
      <dgm:t>
        <a:bodyPr/>
        <a:lstStyle/>
        <a:p>
          <a:r>
            <a:rPr lang="en-US" baseline="0"/>
            <a:t>Mitigate Risks</a:t>
          </a:r>
          <a:endParaRPr lang="en-US"/>
        </a:p>
      </dgm:t>
    </dgm:pt>
    <dgm:pt modelId="{37BE737F-24EA-4A22-A2C3-B49F3BFDE6ED}" type="parTrans" cxnId="{CDE7DCA2-ADCD-41AC-B635-4FEBB7D7D9B4}">
      <dgm:prSet/>
      <dgm:spPr/>
      <dgm:t>
        <a:bodyPr/>
        <a:lstStyle/>
        <a:p>
          <a:endParaRPr lang="en-US"/>
        </a:p>
      </dgm:t>
    </dgm:pt>
    <dgm:pt modelId="{A7266744-0A4E-4FF5-81B7-EB6F775E251B}" type="sibTrans" cxnId="{CDE7DCA2-ADCD-41AC-B635-4FEBB7D7D9B4}">
      <dgm:prSet/>
      <dgm:spPr/>
      <dgm:t>
        <a:bodyPr/>
        <a:lstStyle/>
        <a:p>
          <a:endParaRPr lang="en-US"/>
        </a:p>
      </dgm:t>
    </dgm:pt>
    <dgm:pt modelId="{4E86EA14-4388-7B49-8BCC-1B6C7F12D5BF}" type="pres">
      <dgm:prSet presAssocID="{70CFB67A-3562-481A-A888-673EB7D14CB2}" presName="CompostProcess" presStyleCnt="0">
        <dgm:presLayoutVars>
          <dgm:dir/>
          <dgm:resizeHandles val="exact"/>
        </dgm:presLayoutVars>
      </dgm:prSet>
      <dgm:spPr/>
    </dgm:pt>
    <dgm:pt modelId="{5BDB0E2A-F618-DD42-A04A-465DC01AAD21}" type="pres">
      <dgm:prSet presAssocID="{70CFB67A-3562-481A-A888-673EB7D14CB2}" presName="arrow" presStyleLbl="bgShp" presStyleIdx="0" presStyleCnt="1"/>
      <dgm:spPr/>
    </dgm:pt>
    <dgm:pt modelId="{A60C473C-5515-6F49-BD4D-D1DA2C6A97F9}" type="pres">
      <dgm:prSet presAssocID="{70CFB67A-3562-481A-A888-673EB7D14CB2}" presName="linearProcess" presStyleCnt="0"/>
      <dgm:spPr/>
    </dgm:pt>
    <dgm:pt modelId="{DC8C42D6-7890-3D47-A264-40ACF35C14FD}" type="pres">
      <dgm:prSet presAssocID="{52CF2B3E-BB4D-47D7-B545-F823385AFB16}" presName="textNode" presStyleLbl="node1" presStyleIdx="0" presStyleCnt="5">
        <dgm:presLayoutVars>
          <dgm:bulletEnabled val="1"/>
        </dgm:presLayoutVars>
      </dgm:prSet>
      <dgm:spPr/>
    </dgm:pt>
    <dgm:pt modelId="{5C02C496-DE44-FC4D-8A02-5E9312DC1D17}" type="pres">
      <dgm:prSet presAssocID="{153D9031-C35A-4BDF-B454-DC709E97FE03}" presName="sibTrans" presStyleCnt="0"/>
      <dgm:spPr/>
    </dgm:pt>
    <dgm:pt modelId="{397DCF24-894D-8843-BE96-38354C71BB60}" type="pres">
      <dgm:prSet presAssocID="{7F4584B1-CE89-414B-8B5D-430DCB4F493F}" presName="textNode" presStyleLbl="node1" presStyleIdx="1" presStyleCnt="5">
        <dgm:presLayoutVars>
          <dgm:bulletEnabled val="1"/>
        </dgm:presLayoutVars>
      </dgm:prSet>
      <dgm:spPr/>
    </dgm:pt>
    <dgm:pt modelId="{6B12FE74-685A-A346-9446-2770E4B5D655}" type="pres">
      <dgm:prSet presAssocID="{6736B6AB-7962-45DC-91A7-402EF04D0EBC}" presName="sibTrans" presStyleCnt="0"/>
      <dgm:spPr/>
    </dgm:pt>
    <dgm:pt modelId="{C05A8B2D-3B76-9947-8D55-A9073A3CFF7A}" type="pres">
      <dgm:prSet presAssocID="{8B3257BF-7E71-4B28-96B3-B469DC41D6DB}" presName="textNode" presStyleLbl="node1" presStyleIdx="2" presStyleCnt="5">
        <dgm:presLayoutVars>
          <dgm:bulletEnabled val="1"/>
        </dgm:presLayoutVars>
      </dgm:prSet>
      <dgm:spPr/>
    </dgm:pt>
    <dgm:pt modelId="{8C28C8E0-09B3-0C4B-9A25-4A1664557A48}" type="pres">
      <dgm:prSet presAssocID="{1C3934F8-CDC3-425A-B786-B99B5F2C1CE7}" presName="sibTrans" presStyleCnt="0"/>
      <dgm:spPr/>
    </dgm:pt>
    <dgm:pt modelId="{EAB0F6E5-128C-1846-90B5-F29CF6E28438}" type="pres">
      <dgm:prSet presAssocID="{D27D1080-EE84-49BF-BA0B-67D68EEFB463}" presName="textNode" presStyleLbl="node1" presStyleIdx="3" presStyleCnt="5">
        <dgm:presLayoutVars>
          <dgm:bulletEnabled val="1"/>
        </dgm:presLayoutVars>
      </dgm:prSet>
      <dgm:spPr/>
    </dgm:pt>
    <dgm:pt modelId="{7CA0DEB5-1F8D-1F4C-9D3B-96DAA9E7B5ED}" type="pres">
      <dgm:prSet presAssocID="{900B065D-F029-4CB2-9F07-AEB5E8337A0B}" presName="sibTrans" presStyleCnt="0"/>
      <dgm:spPr/>
    </dgm:pt>
    <dgm:pt modelId="{24AFF500-E47D-6F4A-9FEC-CBD2B031323F}" type="pres">
      <dgm:prSet presAssocID="{C3FED5DA-A338-415C-84CA-715429314DD0}" presName="textNode" presStyleLbl="node1" presStyleIdx="4" presStyleCnt="5">
        <dgm:presLayoutVars>
          <dgm:bulletEnabled val="1"/>
        </dgm:presLayoutVars>
      </dgm:prSet>
      <dgm:spPr/>
    </dgm:pt>
  </dgm:ptLst>
  <dgm:cxnLst>
    <dgm:cxn modelId="{20BD4411-8F3A-974B-BBFD-5EBBC5EF401E}" type="presOf" srcId="{C3FED5DA-A338-415C-84CA-715429314DD0}" destId="{24AFF500-E47D-6F4A-9FEC-CBD2B031323F}" srcOrd="0" destOrd="0" presId="urn:microsoft.com/office/officeart/2005/8/layout/hProcess9"/>
    <dgm:cxn modelId="{0765441C-EA0B-4961-A9EB-9489C64C1808}" srcId="{70CFB67A-3562-481A-A888-673EB7D14CB2}" destId="{D27D1080-EE84-49BF-BA0B-67D68EEFB463}" srcOrd="3" destOrd="0" parTransId="{A5F4CA02-1021-4C5A-910E-75DEC84A6C02}" sibTransId="{900B065D-F029-4CB2-9F07-AEB5E8337A0B}"/>
    <dgm:cxn modelId="{35DEAA1D-5E82-0243-BCA2-FD77C9F5EE38}" type="presOf" srcId="{38E83467-0C5D-4CC6-86CC-D874C3D87840}" destId="{24AFF500-E47D-6F4A-9FEC-CBD2B031323F}" srcOrd="0" destOrd="1" presId="urn:microsoft.com/office/officeart/2005/8/layout/hProcess9"/>
    <dgm:cxn modelId="{213CAF23-A037-1B4C-8E40-BF92313F8C24}" type="presOf" srcId="{AF93A81A-E807-4985-8304-5BE5179FB627}" destId="{24AFF500-E47D-6F4A-9FEC-CBD2B031323F}" srcOrd="0" destOrd="2" presId="urn:microsoft.com/office/officeart/2005/8/layout/hProcess9"/>
    <dgm:cxn modelId="{6763522A-E2BA-C140-BF6E-72B5BA5D7953}" type="presOf" srcId="{7F4584B1-CE89-414B-8B5D-430DCB4F493F}" destId="{397DCF24-894D-8843-BE96-38354C71BB60}" srcOrd="0" destOrd="0" presId="urn:microsoft.com/office/officeart/2005/8/layout/hProcess9"/>
    <dgm:cxn modelId="{89347263-ACE7-4C99-B2D2-BAB9B90BAC45}" srcId="{70CFB67A-3562-481A-A888-673EB7D14CB2}" destId="{C3FED5DA-A338-415C-84CA-715429314DD0}" srcOrd="4" destOrd="0" parTransId="{74DE0D43-67D1-4FAA-8FC4-2784DF11160A}" sibTransId="{CB450D61-F065-4AF4-AF91-A95EE443C1A9}"/>
    <dgm:cxn modelId="{CEECB965-52AB-6C41-A569-BA9EA66C74F8}" type="presOf" srcId="{52CF2B3E-BB4D-47D7-B545-F823385AFB16}" destId="{DC8C42D6-7890-3D47-A264-40ACF35C14FD}" srcOrd="0" destOrd="0" presId="urn:microsoft.com/office/officeart/2005/8/layout/hProcess9"/>
    <dgm:cxn modelId="{7287B548-FD83-164E-94C3-2B80F57BD53C}" type="presOf" srcId="{70CFB67A-3562-481A-A888-673EB7D14CB2}" destId="{4E86EA14-4388-7B49-8BCC-1B6C7F12D5BF}" srcOrd="0" destOrd="0" presId="urn:microsoft.com/office/officeart/2005/8/layout/hProcess9"/>
    <dgm:cxn modelId="{CDE7DCA2-ADCD-41AC-B635-4FEBB7D7D9B4}" srcId="{38E83467-0C5D-4CC6-86CC-D874C3D87840}" destId="{AF93A81A-E807-4985-8304-5BE5179FB627}" srcOrd="0" destOrd="0" parTransId="{37BE737F-24EA-4A22-A2C3-B49F3BFDE6ED}" sibTransId="{A7266744-0A4E-4FF5-81B7-EB6F775E251B}"/>
    <dgm:cxn modelId="{B9CA0DAF-9004-431C-A07D-CB08CDCBB967}" srcId="{70CFB67A-3562-481A-A888-673EB7D14CB2}" destId="{52CF2B3E-BB4D-47D7-B545-F823385AFB16}" srcOrd="0" destOrd="0" parTransId="{C5EEF8C9-2D97-441D-AEE0-6949C5FBAEF1}" sibTransId="{153D9031-C35A-4BDF-B454-DC709E97FE03}"/>
    <dgm:cxn modelId="{767778B7-78B5-6946-A029-4BC3970DC733}" type="presOf" srcId="{D27D1080-EE84-49BF-BA0B-67D68EEFB463}" destId="{EAB0F6E5-128C-1846-90B5-F29CF6E28438}" srcOrd="0" destOrd="0" presId="urn:microsoft.com/office/officeart/2005/8/layout/hProcess9"/>
    <dgm:cxn modelId="{35BED3BC-DF87-40FD-A157-ED525F5991B2}" srcId="{C3FED5DA-A338-415C-84CA-715429314DD0}" destId="{38E83467-0C5D-4CC6-86CC-D874C3D87840}" srcOrd="0" destOrd="0" parTransId="{04276887-94AA-46F9-B8F5-1F3CCE9382F6}" sibTransId="{1D81425A-1DFE-46A1-9BD6-94E00806103D}"/>
    <dgm:cxn modelId="{D2D732CC-7BBB-4F08-A338-5EF1C8D3E325}" srcId="{70CFB67A-3562-481A-A888-673EB7D14CB2}" destId="{8B3257BF-7E71-4B28-96B3-B469DC41D6DB}" srcOrd="2" destOrd="0" parTransId="{4B58E9F8-528D-43FF-8A84-3124F58F95AE}" sibTransId="{1C3934F8-CDC3-425A-B786-B99B5F2C1CE7}"/>
    <dgm:cxn modelId="{0A4A81D7-63C8-4746-B5E7-DB75CBDD44DB}" srcId="{70CFB67A-3562-481A-A888-673EB7D14CB2}" destId="{7F4584B1-CE89-414B-8B5D-430DCB4F493F}" srcOrd="1" destOrd="0" parTransId="{93A78348-A93B-4496-A587-A212BA039BF7}" sibTransId="{6736B6AB-7962-45DC-91A7-402EF04D0EBC}"/>
    <dgm:cxn modelId="{85BBE0EF-771D-8449-ADF2-D1364CD28079}" type="presOf" srcId="{8B3257BF-7E71-4B28-96B3-B469DC41D6DB}" destId="{C05A8B2D-3B76-9947-8D55-A9073A3CFF7A}" srcOrd="0" destOrd="0" presId="urn:microsoft.com/office/officeart/2005/8/layout/hProcess9"/>
    <dgm:cxn modelId="{318AAA85-1E1F-6147-8AFE-C234F814CC2B}" type="presParOf" srcId="{4E86EA14-4388-7B49-8BCC-1B6C7F12D5BF}" destId="{5BDB0E2A-F618-DD42-A04A-465DC01AAD21}" srcOrd="0" destOrd="0" presId="urn:microsoft.com/office/officeart/2005/8/layout/hProcess9"/>
    <dgm:cxn modelId="{1BA92031-A551-A545-BAC0-75EFDEA1FEEC}" type="presParOf" srcId="{4E86EA14-4388-7B49-8BCC-1B6C7F12D5BF}" destId="{A60C473C-5515-6F49-BD4D-D1DA2C6A97F9}" srcOrd="1" destOrd="0" presId="urn:microsoft.com/office/officeart/2005/8/layout/hProcess9"/>
    <dgm:cxn modelId="{AC86C551-DA4C-D142-99C3-14129115C432}" type="presParOf" srcId="{A60C473C-5515-6F49-BD4D-D1DA2C6A97F9}" destId="{DC8C42D6-7890-3D47-A264-40ACF35C14FD}" srcOrd="0" destOrd="0" presId="urn:microsoft.com/office/officeart/2005/8/layout/hProcess9"/>
    <dgm:cxn modelId="{F6199E5D-5C1A-6044-8527-C13504284B16}" type="presParOf" srcId="{A60C473C-5515-6F49-BD4D-D1DA2C6A97F9}" destId="{5C02C496-DE44-FC4D-8A02-5E9312DC1D17}" srcOrd="1" destOrd="0" presId="urn:microsoft.com/office/officeart/2005/8/layout/hProcess9"/>
    <dgm:cxn modelId="{69BA96A0-C8AE-9B41-9477-60BE7D45E92A}" type="presParOf" srcId="{A60C473C-5515-6F49-BD4D-D1DA2C6A97F9}" destId="{397DCF24-894D-8843-BE96-38354C71BB60}" srcOrd="2" destOrd="0" presId="urn:microsoft.com/office/officeart/2005/8/layout/hProcess9"/>
    <dgm:cxn modelId="{7AF346E5-0F95-1F47-841B-06D7CCEEFC2F}" type="presParOf" srcId="{A60C473C-5515-6F49-BD4D-D1DA2C6A97F9}" destId="{6B12FE74-685A-A346-9446-2770E4B5D655}" srcOrd="3" destOrd="0" presId="urn:microsoft.com/office/officeart/2005/8/layout/hProcess9"/>
    <dgm:cxn modelId="{5F1265CA-E44C-C34A-A9EE-A656BAE0C8D5}" type="presParOf" srcId="{A60C473C-5515-6F49-BD4D-D1DA2C6A97F9}" destId="{C05A8B2D-3B76-9947-8D55-A9073A3CFF7A}" srcOrd="4" destOrd="0" presId="urn:microsoft.com/office/officeart/2005/8/layout/hProcess9"/>
    <dgm:cxn modelId="{699BA80A-AF2E-0A4E-B330-B843FCFF2E18}" type="presParOf" srcId="{A60C473C-5515-6F49-BD4D-D1DA2C6A97F9}" destId="{8C28C8E0-09B3-0C4B-9A25-4A1664557A48}" srcOrd="5" destOrd="0" presId="urn:microsoft.com/office/officeart/2005/8/layout/hProcess9"/>
    <dgm:cxn modelId="{EDB10739-D56E-F942-899C-53C4783458F9}" type="presParOf" srcId="{A60C473C-5515-6F49-BD4D-D1DA2C6A97F9}" destId="{EAB0F6E5-128C-1846-90B5-F29CF6E28438}" srcOrd="6" destOrd="0" presId="urn:microsoft.com/office/officeart/2005/8/layout/hProcess9"/>
    <dgm:cxn modelId="{EBDA02E3-6DAF-E94C-B8E2-A0CAC3A6E61B}" type="presParOf" srcId="{A60C473C-5515-6F49-BD4D-D1DA2C6A97F9}" destId="{7CA0DEB5-1F8D-1F4C-9D3B-96DAA9E7B5ED}" srcOrd="7" destOrd="0" presId="urn:microsoft.com/office/officeart/2005/8/layout/hProcess9"/>
    <dgm:cxn modelId="{EAEC9019-3B3B-F946-B498-18657A940B3A}" type="presParOf" srcId="{A60C473C-5515-6F49-BD4D-D1DA2C6A97F9}" destId="{24AFF500-E47D-6F4A-9FEC-CBD2B031323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0C050B-8440-4C7B-B72F-EF09883C6C9C}"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1CECB7D-6765-43E5-BC7C-6FEB13BB96D4}">
      <dgm:prSet custT="1"/>
      <dgm:spPr/>
      <dgm:t>
        <a:bodyPr/>
        <a:lstStyle/>
        <a:p>
          <a:pPr>
            <a:lnSpc>
              <a:spcPct val="100000"/>
            </a:lnSpc>
            <a:defRPr b="1"/>
          </a:pPr>
          <a:r>
            <a:rPr lang="en-US" sz="2800"/>
            <a:t>NIST Framework</a:t>
          </a:r>
        </a:p>
      </dgm:t>
    </dgm:pt>
    <dgm:pt modelId="{0E2CCE9F-2AD6-4131-8166-1911BD819BBE}" type="parTrans" cxnId="{5A9739F8-C57C-4056-97A1-5BEFAC3814B8}">
      <dgm:prSet/>
      <dgm:spPr/>
      <dgm:t>
        <a:bodyPr/>
        <a:lstStyle/>
        <a:p>
          <a:endParaRPr lang="en-US"/>
        </a:p>
      </dgm:t>
    </dgm:pt>
    <dgm:pt modelId="{3F5B1431-AC8A-4030-AFF4-BF681DB6B526}" type="sibTrans" cxnId="{5A9739F8-C57C-4056-97A1-5BEFAC3814B8}">
      <dgm:prSet/>
      <dgm:spPr/>
      <dgm:t>
        <a:bodyPr/>
        <a:lstStyle/>
        <a:p>
          <a:endParaRPr lang="en-US"/>
        </a:p>
      </dgm:t>
    </dgm:pt>
    <dgm:pt modelId="{B846E870-9427-4448-948C-94D9E7C52750}">
      <dgm:prSet custT="1"/>
      <dgm:spPr/>
      <dgm:t>
        <a:bodyPr/>
        <a:lstStyle/>
        <a:p>
          <a:pPr>
            <a:lnSpc>
              <a:spcPct val="100000"/>
            </a:lnSpc>
            <a:defRPr b="1"/>
          </a:pPr>
          <a:r>
            <a:rPr lang="en-US" sz="2400"/>
            <a:t>CIS Framework</a:t>
          </a:r>
          <a:r>
            <a:rPr lang="en-US" sz="2400">
              <a:latin typeface="Gill Sans MT" panose="020B0502020104020203"/>
            </a:rPr>
            <a:t> </a:t>
          </a:r>
          <a:r>
            <a:rPr lang="en-US" sz="1400" b="0">
              <a:solidFill>
                <a:srgbClr val="000000"/>
              </a:solidFill>
              <a:latin typeface="Arial"/>
              <a:cs typeface="Arial"/>
            </a:rPr>
            <a:t>Cyber threat intelligence guidelines are received from Cybersecurity and Infrastructure Security Agency (CISA) information sharing forums and sources</a:t>
          </a:r>
          <a:endParaRPr lang="en-US" sz="1400" b="1">
            <a:solidFill>
              <a:srgbClr val="000000"/>
            </a:solidFill>
            <a:latin typeface="Gill Sans MT"/>
            <a:cs typeface="Arial"/>
          </a:endParaRPr>
        </a:p>
      </dgm:t>
    </dgm:pt>
    <dgm:pt modelId="{8E7BC1FD-C501-49B2-BA70-68300575B03A}" type="parTrans" cxnId="{5DEB020B-3A6A-4523-A3EB-39808EC18211}">
      <dgm:prSet/>
      <dgm:spPr/>
      <dgm:t>
        <a:bodyPr/>
        <a:lstStyle/>
        <a:p>
          <a:endParaRPr lang="en-US"/>
        </a:p>
      </dgm:t>
    </dgm:pt>
    <dgm:pt modelId="{F3076762-2908-4B56-B62D-3920724AFFD1}" type="sibTrans" cxnId="{5DEB020B-3A6A-4523-A3EB-39808EC18211}">
      <dgm:prSet/>
      <dgm:spPr/>
      <dgm:t>
        <a:bodyPr/>
        <a:lstStyle/>
        <a:p>
          <a:endParaRPr lang="en-US"/>
        </a:p>
      </dgm:t>
    </dgm:pt>
    <dgm:pt modelId="{4150FEDD-9241-476C-8C7D-0CD176072006}">
      <dgm:prSet/>
      <dgm:spPr/>
      <dgm:t>
        <a:bodyPr/>
        <a:lstStyle/>
        <a:p>
          <a:pPr>
            <a:lnSpc>
              <a:spcPct val="100000"/>
            </a:lnSpc>
          </a:pPr>
          <a:r>
            <a:rPr lang="en-US" b="0">
              <a:latin typeface="Arial"/>
              <a:cs typeface="Arial"/>
            </a:rPr>
            <a:t>Follow legal and regulatory requirements regarding cybersecurity (</a:t>
          </a:r>
          <a:r>
            <a:rPr lang="en-US" b="0" err="1">
              <a:latin typeface="Arial"/>
              <a:cs typeface="Arial"/>
            </a:rPr>
            <a:t>i.e</a:t>
          </a:r>
          <a:r>
            <a:rPr lang="en-US" b="0">
              <a:latin typeface="Arial"/>
              <a:cs typeface="Arial"/>
            </a:rPr>
            <a:t>, National Institutes of Standards and Technology [NIST], </a:t>
          </a:r>
          <a:endParaRPr lang="en-US" b="0">
            <a:latin typeface="Gill Sans MT" panose="020B0502020104020203"/>
          </a:endParaRPr>
        </a:p>
      </dgm:t>
    </dgm:pt>
    <dgm:pt modelId="{4B5C7921-6931-4775-8592-65B264478798}" type="parTrans" cxnId="{47FF1A85-D4E4-E14D-B30C-19A2C3880B20}">
      <dgm:prSet/>
      <dgm:spPr/>
      <dgm:t>
        <a:bodyPr/>
        <a:lstStyle/>
        <a:p>
          <a:endParaRPr lang="en-US"/>
        </a:p>
      </dgm:t>
    </dgm:pt>
    <dgm:pt modelId="{4C81493B-8D4F-4205-A99B-4607D9EC7C24}" type="sibTrans" cxnId="{47FF1A85-D4E4-E14D-B30C-19A2C3880B20}">
      <dgm:prSet/>
      <dgm:spPr/>
      <dgm:t>
        <a:bodyPr/>
        <a:lstStyle/>
        <a:p>
          <a:endParaRPr lang="en-US"/>
        </a:p>
      </dgm:t>
    </dgm:pt>
    <dgm:pt modelId="{9CDD8D38-2318-477F-9279-68230363F2CB}" type="pres">
      <dgm:prSet presAssocID="{150C050B-8440-4C7B-B72F-EF09883C6C9C}" presName="root" presStyleCnt="0">
        <dgm:presLayoutVars>
          <dgm:dir/>
          <dgm:resizeHandles val="exact"/>
        </dgm:presLayoutVars>
      </dgm:prSet>
      <dgm:spPr/>
    </dgm:pt>
    <dgm:pt modelId="{AE1C7DE3-7B46-4B53-9624-83A1D6CB2492}" type="pres">
      <dgm:prSet presAssocID="{A1CECB7D-6765-43E5-BC7C-6FEB13BB96D4}" presName="compNode" presStyleCnt="0"/>
      <dgm:spPr/>
    </dgm:pt>
    <dgm:pt modelId="{E1456C0D-73BF-4FA7-BBBB-170AA491BE86}" type="pres">
      <dgm:prSet presAssocID="{A1CECB7D-6765-43E5-BC7C-6FEB13BB96D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BC3F6A50-78F6-46E3-AC34-785630C8F46B}" type="pres">
      <dgm:prSet presAssocID="{A1CECB7D-6765-43E5-BC7C-6FEB13BB96D4}" presName="iconSpace" presStyleCnt="0"/>
      <dgm:spPr/>
    </dgm:pt>
    <dgm:pt modelId="{A5138625-A5F6-40E1-9AD5-0089461E373D}" type="pres">
      <dgm:prSet presAssocID="{A1CECB7D-6765-43E5-BC7C-6FEB13BB96D4}" presName="parTx" presStyleLbl="revTx" presStyleIdx="0" presStyleCnt="4" custScaleY="96771">
        <dgm:presLayoutVars>
          <dgm:chMax val="0"/>
          <dgm:chPref val="0"/>
        </dgm:presLayoutVars>
      </dgm:prSet>
      <dgm:spPr/>
    </dgm:pt>
    <dgm:pt modelId="{5E36C7C0-08BF-45E7-824B-38AD37D605B2}" type="pres">
      <dgm:prSet presAssocID="{A1CECB7D-6765-43E5-BC7C-6FEB13BB96D4}" presName="txSpace" presStyleCnt="0"/>
      <dgm:spPr/>
    </dgm:pt>
    <dgm:pt modelId="{156ED2B0-EFC9-4062-9F98-A20BB3F0356B}" type="pres">
      <dgm:prSet presAssocID="{A1CECB7D-6765-43E5-BC7C-6FEB13BB96D4}" presName="desTx" presStyleLbl="revTx" presStyleIdx="1" presStyleCnt="4" custScaleX="102925" custScaleY="397840">
        <dgm:presLayoutVars/>
      </dgm:prSet>
      <dgm:spPr/>
    </dgm:pt>
    <dgm:pt modelId="{D8A3943B-49D7-4085-B3FA-8443688E20BF}" type="pres">
      <dgm:prSet presAssocID="{3F5B1431-AC8A-4030-AFF4-BF681DB6B526}" presName="sibTrans" presStyleCnt="0"/>
      <dgm:spPr/>
    </dgm:pt>
    <dgm:pt modelId="{1D60E9DF-5EE3-42AF-8DD6-C9A661AF1B47}" type="pres">
      <dgm:prSet presAssocID="{B846E870-9427-4448-948C-94D9E7C52750}" presName="compNode" presStyleCnt="0"/>
      <dgm:spPr/>
    </dgm:pt>
    <dgm:pt modelId="{B8C6EEA9-0880-4CD9-902E-A761A0B34D66}" type="pres">
      <dgm:prSet presAssocID="{B846E870-9427-4448-948C-94D9E7C52750}" presName="iconRect" presStyleLbl="node1" presStyleIdx="1" presStyleCnt="2" custLinFactNeighborX="0" custLinFactNeighborY="-252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08424014-F329-40B6-AC04-0FCCC2462012}" type="pres">
      <dgm:prSet presAssocID="{B846E870-9427-4448-948C-94D9E7C52750}" presName="iconSpace" presStyleCnt="0"/>
      <dgm:spPr/>
    </dgm:pt>
    <dgm:pt modelId="{F6864B37-B028-42F2-9C8D-209A039FDE4F}" type="pres">
      <dgm:prSet presAssocID="{B846E870-9427-4448-948C-94D9E7C52750}" presName="parTx" presStyleLbl="revTx" presStyleIdx="2" presStyleCnt="4">
        <dgm:presLayoutVars>
          <dgm:chMax val="0"/>
          <dgm:chPref val="0"/>
        </dgm:presLayoutVars>
      </dgm:prSet>
      <dgm:spPr/>
    </dgm:pt>
    <dgm:pt modelId="{C89BE3B4-31C7-4042-953F-890EBE16FDC3}" type="pres">
      <dgm:prSet presAssocID="{B846E870-9427-4448-948C-94D9E7C52750}" presName="txSpace" presStyleCnt="0"/>
      <dgm:spPr/>
    </dgm:pt>
    <dgm:pt modelId="{49915059-B486-4177-A2B4-C2FA26902DA7}" type="pres">
      <dgm:prSet presAssocID="{B846E870-9427-4448-948C-94D9E7C52750}" presName="desTx" presStyleLbl="revTx" presStyleIdx="3" presStyleCnt="4">
        <dgm:presLayoutVars/>
      </dgm:prSet>
      <dgm:spPr/>
    </dgm:pt>
  </dgm:ptLst>
  <dgm:cxnLst>
    <dgm:cxn modelId="{9CE5C303-44D1-49FB-BD04-52B7DAA37426}" type="presOf" srcId="{150C050B-8440-4C7B-B72F-EF09883C6C9C}" destId="{9CDD8D38-2318-477F-9279-68230363F2CB}" srcOrd="0" destOrd="0" presId="urn:microsoft.com/office/officeart/2018/2/layout/IconLabelDescriptionList"/>
    <dgm:cxn modelId="{5DEB020B-3A6A-4523-A3EB-39808EC18211}" srcId="{150C050B-8440-4C7B-B72F-EF09883C6C9C}" destId="{B846E870-9427-4448-948C-94D9E7C52750}" srcOrd="1" destOrd="0" parTransId="{8E7BC1FD-C501-49B2-BA70-68300575B03A}" sibTransId="{F3076762-2908-4B56-B62D-3920724AFFD1}"/>
    <dgm:cxn modelId="{80DC250C-6DB8-2349-8B98-F366C4E423BD}" type="presOf" srcId="{B846E870-9427-4448-948C-94D9E7C52750}" destId="{F6864B37-B028-42F2-9C8D-209A039FDE4F}" srcOrd="0" destOrd="0" presId="urn:microsoft.com/office/officeart/2018/2/layout/IconLabelDescriptionList"/>
    <dgm:cxn modelId="{47FF1A85-D4E4-E14D-B30C-19A2C3880B20}" srcId="{A1CECB7D-6765-43E5-BC7C-6FEB13BB96D4}" destId="{4150FEDD-9241-476C-8C7D-0CD176072006}" srcOrd="0" destOrd="0" parTransId="{4B5C7921-6931-4775-8592-65B264478798}" sibTransId="{4C81493B-8D4F-4205-A99B-4607D9EC7C24}"/>
    <dgm:cxn modelId="{3A1F608E-0EEC-7941-AB26-758C148AF3B8}" type="presOf" srcId="{4150FEDD-9241-476C-8C7D-0CD176072006}" destId="{156ED2B0-EFC9-4062-9F98-A20BB3F0356B}" srcOrd="0" destOrd="0" presId="urn:microsoft.com/office/officeart/2018/2/layout/IconLabelDescriptionList"/>
    <dgm:cxn modelId="{11C290DE-A8E2-2C42-94A3-DBC521D4FB6E}" type="presOf" srcId="{A1CECB7D-6765-43E5-BC7C-6FEB13BB96D4}" destId="{A5138625-A5F6-40E1-9AD5-0089461E373D}" srcOrd="0" destOrd="0" presId="urn:microsoft.com/office/officeart/2018/2/layout/IconLabelDescriptionList"/>
    <dgm:cxn modelId="{5A9739F8-C57C-4056-97A1-5BEFAC3814B8}" srcId="{150C050B-8440-4C7B-B72F-EF09883C6C9C}" destId="{A1CECB7D-6765-43E5-BC7C-6FEB13BB96D4}" srcOrd="0" destOrd="0" parTransId="{0E2CCE9F-2AD6-4131-8166-1911BD819BBE}" sibTransId="{3F5B1431-AC8A-4030-AFF4-BF681DB6B526}"/>
    <dgm:cxn modelId="{B7B2477B-9012-BF4F-BD07-5489A69A9A5C}" type="presParOf" srcId="{9CDD8D38-2318-477F-9279-68230363F2CB}" destId="{AE1C7DE3-7B46-4B53-9624-83A1D6CB2492}" srcOrd="0" destOrd="0" presId="urn:microsoft.com/office/officeart/2018/2/layout/IconLabelDescriptionList"/>
    <dgm:cxn modelId="{9C86AEB9-BD21-B745-8C56-691933085CBA}" type="presParOf" srcId="{AE1C7DE3-7B46-4B53-9624-83A1D6CB2492}" destId="{E1456C0D-73BF-4FA7-BBBB-170AA491BE86}" srcOrd="0" destOrd="0" presId="urn:microsoft.com/office/officeart/2018/2/layout/IconLabelDescriptionList"/>
    <dgm:cxn modelId="{5DA333F0-62D5-E746-889D-90322561F3FA}" type="presParOf" srcId="{AE1C7DE3-7B46-4B53-9624-83A1D6CB2492}" destId="{BC3F6A50-78F6-46E3-AC34-785630C8F46B}" srcOrd="1" destOrd="0" presId="urn:microsoft.com/office/officeart/2018/2/layout/IconLabelDescriptionList"/>
    <dgm:cxn modelId="{C722C2CA-0721-6246-9246-07196D450AA1}" type="presParOf" srcId="{AE1C7DE3-7B46-4B53-9624-83A1D6CB2492}" destId="{A5138625-A5F6-40E1-9AD5-0089461E373D}" srcOrd="2" destOrd="0" presId="urn:microsoft.com/office/officeart/2018/2/layout/IconLabelDescriptionList"/>
    <dgm:cxn modelId="{6BDED5F9-49FE-9149-8C2C-3AA17BE909CA}" type="presParOf" srcId="{AE1C7DE3-7B46-4B53-9624-83A1D6CB2492}" destId="{5E36C7C0-08BF-45E7-824B-38AD37D605B2}" srcOrd="3" destOrd="0" presId="urn:microsoft.com/office/officeart/2018/2/layout/IconLabelDescriptionList"/>
    <dgm:cxn modelId="{6FB3180C-B065-BF43-A0FF-D76A79E69681}" type="presParOf" srcId="{AE1C7DE3-7B46-4B53-9624-83A1D6CB2492}" destId="{156ED2B0-EFC9-4062-9F98-A20BB3F0356B}" srcOrd="4" destOrd="0" presId="urn:microsoft.com/office/officeart/2018/2/layout/IconLabelDescriptionList"/>
    <dgm:cxn modelId="{D4B8AA0F-5DFA-BB44-ABC3-42CD1A76F292}" type="presParOf" srcId="{9CDD8D38-2318-477F-9279-68230363F2CB}" destId="{D8A3943B-49D7-4085-B3FA-8443688E20BF}" srcOrd="1" destOrd="0" presId="urn:microsoft.com/office/officeart/2018/2/layout/IconLabelDescriptionList"/>
    <dgm:cxn modelId="{679182B7-97E1-0245-A6CA-F4EB8D5FC103}" type="presParOf" srcId="{9CDD8D38-2318-477F-9279-68230363F2CB}" destId="{1D60E9DF-5EE3-42AF-8DD6-C9A661AF1B47}" srcOrd="2" destOrd="0" presId="urn:microsoft.com/office/officeart/2018/2/layout/IconLabelDescriptionList"/>
    <dgm:cxn modelId="{954AEE93-6E2D-E447-8643-6E0263989521}" type="presParOf" srcId="{1D60E9DF-5EE3-42AF-8DD6-C9A661AF1B47}" destId="{B8C6EEA9-0880-4CD9-902E-A761A0B34D66}" srcOrd="0" destOrd="0" presId="urn:microsoft.com/office/officeart/2018/2/layout/IconLabelDescriptionList"/>
    <dgm:cxn modelId="{3DAA9B44-7A62-E647-ABF4-41A095BFB159}" type="presParOf" srcId="{1D60E9DF-5EE3-42AF-8DD6-C9A661AF1B47}" destId="{08424014-F329-40B6-AC04-0FCCC2462012}" srcOrd="1" destOrd="0" presId="urn:microsoft.com/office/officeart/2018/2/layout/IconLabelDescriptionList"/>
    <dgm:cxn modelId="{7B437377-4092-214D-B4F5-3981B4C3EFDE}" type="presParOf" srcId="{1D60E9DF-5EE3-42AF-8DD6-C9A661AF1B47}" destId="{F6864B37-B028-42F2-9C8D-209A039FDE4F}" srcOrd="2" destOrd="0" presId="urn:microsoft.com/office/officeart/2018/2/layout/IconLabelDescriptionList"/>
    <dgm:cxn modelId="{607EBC8A-CACB-4D4F-B59C-24D70CE5183C}" type="presParOf" srcId="{1D60E9DF-5EE3-42AF-8DD6-C9A661AF1B47}" destId="{C89BE3B4-31C7-4042-953F-890EBE16FDC3}" srcOrd="3" destOrd="0" presId="urn:microsoft.com/office/officeart/2018/2/layout/IconLabelDescriptionList"/>
    <dgm:cxn modelId="{3FEF9AB1-DF70-AD49-98C6-7D6C5EE32714}" type="presParOf" srcId="{1D60E9DF-5EE3-42AF-8DD6-C9A661AF1B47}" destId="{49915059-B486-4177-A2B4-C2FA26902DA7}"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6627A-EB36-9341-B8A7-9CB6FBA88847}">
      <dsp:nvSpPr>
        <dsp:cNvPr id="0" name=""/>
        <dsp:cNvSpPr/>
      </dsp:nvSpPr>
      <dsp:spPr>
        <a:xfrm>
          <a:off x="3059" y="2062"/>
          <a:ext cx="3446487" cy="3446487"/>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444500">
            <a:lnSpc>
              <a:spcPct val="90000"/>
            </a:lnSpc>
            <a:spcBef>
              <a:spcPct val="0"/>
            </a:spcBef>
            <a:spcAft>
              <a:spcPct val="35000"/>
            </a:spcAft>
            <a:buNone/>
          </a:pPr>
          <a:r>
            <a:rPr lang="en-US" sz="1000" b="1" i="0" kern="1200" dirty="0"/>
            <a:t>Take Inventory of Hardware &amp; Software Assets</a:t>
          </a:r>
          <a:endParaRPr lang="en-US" sz="1000" kern="1200" dirty="0"/>
        </a:p>
        <a:p>
          <a:pPr marL="57150" lvl="1" indent="-57150" algn="l" defTabSz="355600">
            <a:lnSpc>
              <a:spcPct val="90000"/>
            </a:lnSpc>
            <a:spcBef>
              <a:spcPct val="0"/>
            </a:spcBef>
            <a:spcAft>
              <a:spcPct val="15000"/>
            </a:spcAft>
            <a:buChar char="•"/>
          </a:pPr>
          <a:r>
            <a:rPr lang="en-US" sz="800" b="0" i="0" kern="1200"/>
            <a:t>a. Hardware Assets</a:t>
          </a:r>
          <a:endParaRPr lang="en-US" sz="800" kern="1200"/>
        </a:p>
        <a:p>
          <a:pPr marL="114300" lvl="2" indent="-57150" algn="l" defTabSz="355600">
            <a:lnSpc>
              <a:spcPct val="90000"/>
            </a:lnSpc>
            <a:spcBef>
              <a:spcPct val="0"/>
            </a:spcBef>
            <a:spcAft>
              <a:spcPct val="15000"/>
            </a:spcAft>
            <a:buChar char="•"/>
          </a:pPr>
          <a:r>
            <a:rPr lang="en-US" sz="800" b="0" i="0" kern="1200" dirty="0" err="1"/>
            <a:t>i</a:t>
          </a:r>
          <a:r>
            <a:rPr lang="en-US" sz="800" b="0" i="0" kern="1200" dirty="0"/>
            <a:t>. Actively manage, track, and correct end-user devices, including portable and mobile; network devices; </a:t>
          </a:r>
          <a:endParaRPr lang="en-US" sz="800" kern="1200" dirty="0"/>
        </a:p>
        <a:p>
          <a:pPr marL="114300" lvl="2" indent="-57150" algn="l" defTabSz="355600">
            <a:lnSpc>
              <a:spcPct val="90000"/>
            </a:lnSpc>
            <a:spcBef>
              <a:spcPct val="0"/>
            </a:spcBef>
            <a:spcAft>
              <a:spcPct val="15000"/>
            </a:spcAft>
            <a:buChar char="•"/>
          </a:pPr>
          <a:r>
            <a:rPr lang="en-US" sz="800" b="0" i="0" kern="1200" dirty="0"/>
            <a:t>HOW: use </a:t>
          </a:r>
          <a:r>
            <a:rPr lang="en-US" sz="800" b="1" i="0" kern="1200" dirty="0"/>
            <a:t>asset tags</a:t>
          </a:r>
          <a:r>
            <a:rPr lang="en-US" sz="800" b="0" i="0" kern="1200" dirty="0"/>
            <a:t>, </a:t>
          </a:r>
          <a:r>
            <a:rPr lang="en-US" sz="800" b="1" i="0" kern="1200" dirty="0"/>
            <a:t>decommission any unused hardware according to asset tag #</a:t>
          </a:r>
          <a:endParaRPr lang="en-US" sz="800" kern="1200" dirty="0"/>
        </a:p>
        <a:p>
          <a:pPr marL="57150" lvl="1" indent="-57150" algn="l" defTabSz="355600">
            <a:lnSpc>
              <a:spcPct val="90000"/>
            </a:lnSpc>
            <a:spcBef>
              <a:spcPct val="0"/>
            </a:spcBef>
            <a:spcAft>
              <a:spcPct val="15000"/>
            </a:spcAft>
            <a:buChar char="•"/>
          </a:pPr>
          <a:endParaRPr lang="en-US" sz="800" kern="1200" dirty="0"/>
        </a:p>
        <a:p>
          <a:pPr marL="114300" lvl="2" indent="-57150" algn="l" defTabSz="355600">
            <a:lnSpc>
              <a:spcPct val="90000"/>
            </a:lnSpc>
            <a:spcBef>
              <a:spcPct val="0"/>
            </a:spcBef>
            <a:spcAft>
              <a:spcPct val="15000"/>
            </a:spcAft>
            <a:buChar char="•"/>
          </a:pPr>
          <a:r>
            <a:rPr lang="en-US" sz="800" b="0" i="0" kern="1200" dirty="0"/>
            <a:t>B.    Software Assets    </a:t>
          </a:r>
          <a:endParaRPr lang="en-US" sz="800" kern="1200" dirty="0"/>
        </a:p>
        <a:p>
          <a:pPr marL="171450" lvl="3" indent="-57150" algn="l" defTabSz="355600">
            <a:lnSpc>
              <a:spcPct val="90000"/>
            </a:lnSpc>
            <a:spcBef>
              <a:spcPct val="0"/>
            </a:spcBef>
            <a:spcAft>
              <a:spcPct val="15000"/>
            </a:spcAft>
            <a:buChar char="•"/>
          </a:pPr>
          <a:r>
            <a:rPr lang="en-US" sz="800" b="0" i="0" kern="1200" dirty="0"/>
            <a:t>ii.  Actively manage inventory, track, and correct all software (operating systems and applications) on the network only authorized software is installed and can execute</a:t>
          </a:r>
          <a:endParaRPr lang="en-US" sz="800" kern="1200" dirty="0"/>
        </a:p>
        <a:p>
          <a:pPr marL="228600" lvl="4" indent="-57150" algn="l" defTabSz="355600">
            <a:lnSpc>
              <a:spcPct val="90000"/>
            </a:lnSpc>
            <a:spcBef>
              <a:spcPct val="0"/>
            </a:spcBef>
            <a:spcAft>
              <a:spcPct val="15000"/>
            </a:spcAft>
            <a:buChar char="•"/>
          </a:pPr>
          <a:r>
            <a:rPr lang="en-US" sz="800" b="1" i="0" kern="1200"/>
            <a:t>HOW: Keep track of license expiration date and # of purchased licenses </a:t>
          </a:r>
          <a:r>
            <a:rPr lang="en-US" sz="800" b="1" i="0" kern="1200" err="1"/>
            <a:t>i.e</a:t>
          </a:r>
          <a:r>
            <a:rPr lang="en-US" sz="800" b="1" i="0" kern="1200"/>
            <a:t>, Windows, Excel? Implement an ‘Allow’ list which can be reassessed bi-annually. Otherwise employees must request permission</a:t>
          </a:r>
          <a:endParaRPr lang="en-US" sz="800" kern="1200"/>
        </a:p>
        <a:p>
          <a:pPr marL="114300" lvl="2" indent="-57150" algn="l" defTabSz="355600">
            <a:lnSpc>
              <a:spcPct val="90000"/>
            </a:lnSpc>
            <a:spcBef>
              <a:spcPct val="0"/>
            </a:spcBef>
            <a:spcAft>
              <a:spcPct val="15000"/>
            </a:spcAft>
            <a:buChar char="•"/>
          </a:pPr>
          <a:endParaRPr lang="en-US" sz="800" kern="1200"/>
        </a:p>
      </dsp:txBody>
      <dsp:txXfrm>
        <a:off x="507785" y="506788"/>
        <a:ext cx="2437035" cy="2437035"/>
      </dsp:txXfrm>
    </dsp:sp>
    <dsp:sp modelId="{68B5B3A1-F512-C842-B3F3-2107D681D69D}">
      <dsp:nvSpPr>
        <dsp:cNvPr id="0" name=""/>
        <dsp:cNvSpPr/>
      </dsp:nvSpPr>
      <dsp:spPr>
        <a:xfrm>
          <a:off x="3346297" y="-512339"/>
          <a:ext cx="2754750" cy="11631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346297" y="-279701"/>
        <a:ext cx="2405793" cy="697913"/>
      </dsp:txXfrm>
    </dsp:sp>
    <dsp:sp modelId="{DCD9D613-A023-5446-A34F-D8BDBF644592}">
      <dsp:nvSpPr>
        <dsp:cNvPr id="0" name=""/>
        <dsp:cNvSpPr/>
      </dsp:nvSpPr>
      <dsp:spPr>
        <a:xfrm>
          <a:off x="6153727" y="2062"/>
          <a:ext cx="3446487" cy="3446487"/>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Font typeface="+mj-lt"/>
            <a:buNone/>
          </a:pPr>
          <a:r>
            <a:rPr lang="en-US" sz="1200" b="1" i="0" u="none" kern="1200"/>
            <a:t>Multi-factor Authentication(MFA)-</a:t>
          </a:r>
        </a:p>
        <a:p>
          <a:pPr marL="0" lvl="0" indent="0" algn="ctr" defTabSz="533400">
            <a:lnSpc>
              <a:spcPct val="90000"/>
            </a:lnSpc>
            <a:spcBef>
              <a:spcPct val="0"/>
            </a:spcBef>
            <a:spcAft>
              <a:spcPct val="35000"/>
            </a:spcAft>
            <a:buFont typeface="+mj-lt"/>
            <a:buNone/>
          </a:pPr>
          <a:r>
            <a:rPr lang="en-US" sz="1200" b="0" i="0" u="none" kern="1200"/>
            <a:t>Rather than just asking for a username and password, MFA requires the user to provide two or more verification factors (such as SMS text message with code) to gain access to accounts and the network.</a:t>
          </a:r>
        </a:p>
      </dsp:txBody>
      <dsp:txXfrm>
        <a:off x="6658453" y="506788"/>
        <a:ext cx="2437035" cy="2437035"/>
      </dsp:txXfrm>
    </dsp:sp>
    <dsp:sp modelId="{6F137EBF-FEAF-9F47-AD34-CBAD1C8B2DD8}">
      <dsp:nvSpPr>
        <dsp:cNvPr id="0" name=""/>
        <dsp:cNvSpPr/>
      </dsp:nvSpPr>
      <dsp:spPr>
        <a:xfrm rot="10800000">
          <a:off x="3502226" y="2799762"/>
          <a:ext cx="2754750" cy="11631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851183" y="3032400"/>
        <a:ext cx="2405793" cy="6979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B0E2A-F618-DD42-A04A-465DC01AAD21}">
      <dsp:nvSpPr>
        <dsp:cNvPr id="0" name=""/>
        <dsp:cNvSpPr/>
      </dsp:nvSpPr>
      <dsp:spPr>
        <a:xfrm>
          <a:off x="720282" y="0"/>
          <a:ext cx="8163205" cy="3378929"/>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C8C42D6-7890-3D47-A264-40ACF35C14FD}">
      <dsp:nvSpPr>
        <dsp:cNvPr id="0" name=""/>
        <dsp:cNvSpPr/>
      </dsp:nvSpPr>
      <dsp:spPr>
        <a:xfrm>
          <a:off x="1238" y="1013678"/>
          <a:ext cx="1829004" cy="1351571"/>
        </a:xfrm>
        <a:prstGeom prst="round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Identifying Risks</a:t>
          </a:r>
        </a:p>
      </dsp:txBody>
      <dsp:txXfrm>
        <a:off x="67216" y="1079656"/>
        <a:ext cx="1697048" cy="1219615"/>
      </dsp:txXfrm>
    </dsp:sp>
    <dsp:sp modelId="{397DCF24-894D-8843-BE96-38354C71BB60}">
      <dsp:nvSpPr>
        <dsp:cNvPr id="0" name=""/>
        <dsp:cNvSpPr/>
      </dsp:nvSpPr>
      <dsp:spPr>
        <a:xfrm>
          <a:off x="1944310" y="1013678"/>
          <a:ext cx="1829004" cy="1351571"/>
        </a:xfrm>
        <a:prstGeom prst="round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Third Party Exposure </a:t>
          </a:r>
        </a:p>
      </dsp:txBody>
      <dsp:txXfrm>
        <a:off x="2010288" y="1079656"/>
        <a:ext cx="1697048" cy="1219615"/>
      </dsp:txXfrm>
    </dsp:sp>
    <dsp:sp modelId="{C05A8B2D-3B76-9947-8D55-A9073A3CFF7A}">
      <dsp:nvSpPr>
        <dsp:cNvPr id="0" name=""/>
        <dsp:cNvSpPr/>
      </dsp:nvSpPr>
      <dsp:spPr>
        <a:xfrm>
          <a:off x="3887383" y="1013678"/>
          <a:ext cx="1829004" cy="1351571"/>
        </a:xfrm>
        <a:prstGeom prst="roundRect">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Unauthorized Risks</a:t>
          </a:r>
        </a:p>
      </dsp:txBody>
      <dsp:txXfrm>
        <a:off x="3953361" y="1079656"/>
        <a:ext cx="1697048" cy="1219615"/>
      </dsp:txXfrm>
    </dsp:sp>
    <dsp:sp modelId="{EAB0F6E5-128C-1846-90B5-F29CF6E28438}">
      <dsp:nvSpPr>
        <dsp:cNvPr id="0" name=""/>
        <dsp:cNvSpPr/>
      </dsp:nvSpPr>
      <dsp:spPr>
        <a:xfrm>
          <a:off x="5830455" y="1013678"/>
          <a:ext cx="1829004" cy="1351571"/>
        </a:xfrm>
        <a:prstGeom prst="roundRect">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Corruption of Data</a:t>
          </a:r>
        </a:p>
      </dsp:txBody>
      <dsp:txXfrm>
        <a:off x="5896433" y="1079656"/>
        <a:ext cx="1697048" cy="1219615"/>
      </dsp:txXfrm>
    </dsp:sp>
    <dsp:sp modelId="{24AFF500-E47D-6F4A-9FEC-CBD2B031323F}">
      <dsp:nvSpPr>
        <dsp:cNvPr id="0" name=""/>
        <dsp:cNvSpPr/>
      </dsp:nvSpPr>
      <dsp:spPr>
        <a:xfrm>
          <a:off x="7773528" y="1013678"/>
          <a:ext cx="1829004" cy="1351571"/>
        </a:xfrm>
        <a:prstGeom prst="roundRect">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Poor Data Management</a:t>
          </a:r>
        </a:p>
        <a:p>
          <a:pPr marL="114300" lvl="1" indent="-114300" algn="l" defTabSz="622300">
            <a:lnSpc>
              <a:spcPct val="90000"/>
            </a:lnSpc>
            <a:spcBef>
              <a:spcPct val="0"/>
            </a:spcBef>
            <a:spcAft>
              <a:spcPct val="15000"/>
            </a:spcAft>
            <a:buChar char="•"/>
          </a:pPr>
          <a:r>
            <a:rPr lang="en-US" sz="1400" kern="1200"/>
            <a:t>Strategies &amp; Tactics</a:t>
          </a:r>
        </a:p>
        <a:p>
          <a:pPr marL="228600" lvl="2" indent="-114300" algn="l" defTabSz="622300">
            <a:lnSpc>
              <a:spcPct val="90000"/>
            </a:lnSpc>
            <a:spcBef>
              <a:spcPct val="0"/>
            </a:spcBef>
            <a:spcAft>
              <a:spcPct val="15000"/>
            </a:spcAft>
            <a:buChar char="•"/>
          </a:pPr>
          <a:r>
            <a:rPr lang="en-US" sz="1400" kern="1200" baseline="0"/>
            <a:t>Mitigate Risks</a:t>
          </a:r>
          <a:endParaRPr lang="en-US" sz="1400" kern="1200"/>
        </a:p>
      </dsp:txBody>
      <dsp:txXfrm>
        <a:off x="7839506" y="1079656"/>
        <a:ext cx="1697048" cy="12196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56C0D-73BF-4FA7-BBBB-170AA491BE86}">
      <dsp:nvSpPr>
        <dsp:cNvPr id="0" name=""/>
        <dsp:cNvSpPr/>
      </dsp:nvSpPr>
      <dsp:spPr>
        <a:xfrm>
          <a:off x="113056" y="135070"/>
          <a:ext cx="1509048" cy="1509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138625-A5F6-40E1-9AD5-0089461E373D}">
      <dsp:nvSpPr>
        <dsp:cNvPr id="0" name=""/>
        <dsp:cNvSpPr/>
      </dsp:nvSpPr>
      <dsp:spPr>
        <a:xfrm>
          <a:off x="113056" y="1788019"/>
          <a:ext cx="4311566" cy="910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a:t>NIST Framework</a:t>
          </a:r>
        </a:p>
      </dsp:txBody>
      <dsp:txXfrm>
        <a:off x="113056" y="1788019"/>
        <a:ext cx="4311566" cy="910241"/>
      </dsp:txXfrm>
    </dsp:sp>
    <dsp:sp modelId="{156ED2B0-EFC9-4062-9F98-A20BB3F0356B}">
      <dsp:nvSpPr>
        <dsp:cNvPr id="0" name=""/>
        <dsp:cNvSpPr/>
      </dsp:nvSpPr>
      <dsp:spPr>
        <a:xfrm>
          <a:off x="50000" y="2285823"/>
          <a:ext cx="4437679" cy="1302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b="0" kern="1200">
              <a:latin typeface="Arial"/>
              <a:cs typeface="Arial"/>
            </a:rPr>
            <a:t>Follow legal and regulatory requirements regarding cybersecurity (</a:t>
          </a:r>
          <a:r>
            <a:rPr lang="en-US" sz="1700" b="0" kern="1200" err="1">
              <a:latin typeface="Arial"/>
              <a:cs typeface="Arial"/>
            </a:rPr>
            <a:t>i.e</a:t>
          </a:r>
          <a:r>
            <a:rPr lang="en-US" sz="1700" b="0" kern="1200">
              <a:latin typeface="Arial"/>
              <a:cs typeface="Arial"/>
            </a:rPr>
            <a:t>, National Institutes of Standards and Technology [NIST], </a:t>
          </a:r>
          <a:endParaRPr lang="en-US" sz="1700" b="0" kern="1200">
            <a:latin typeface="Gill Sans MT" panose="020B0502020104020203"/>
          </a:endParaRPr>
        </a:p>
      </dsp:txBody>
      <dsp:txXfrm>
        <a:off x="50000" y="2285823"/>
        <a:ext cx="4437679" cy="1302333"/>
      </dsp:txXfrm>
    </dsp:sp>
    <dsp:sp modelId="{B8C6EEA9-0880-4CD9-902E-A761A0B34D66}">
      <dsp:nvSpPr>
        <dsp:cNvPr id="0" name=""/>
        <dsp:cNvSpPr/>
      </dsp:nvSpPr>
      <dsp:spPr>
        <a:xfrm>
          <a:off x="5242204" y="326780"/>
          <a:ext cx="1509048" cy="1509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864B37-B028-42F2-9C8D-209A039FDE4F}">
      <dsp:nvSpPr>
        <dsp:cNvPr id="0" name=""/>
        <dsp:cNvSpPr/>
      </dsp:nvSpPr>
      <dsp:spPr>
        <a:xfrm>
          <a:off x="5242204" y="2002692"/>
          <a:ext cx="4311566" cy="971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kern="1200"/>
            <a:t>CIS Framework</a:t>
          </a:r>
          <a:r>
            <a:rPr lang="en-US" sz="2400" kern="1200">
              <a:latin typeface="Gill Sans MT" panose="020B0502020104020203"/>
            </a:rPr>
            <a:t> </a:t>
          </a:r>
          <a:r>
            <a:rPr lang="en-US" sz="1400" b="0" kern="1200">
              <a:solidFill>
                <a:srgbClr val="000000"/>
              </a:solidFill>
              <a:latin typeface="Arial"/>
              <a:cs typeface="Arial"/>
            </a:rPr>
            <a:t>Cyber threat intelligence guidelines are received from Cybersecurity and Infrastructure Security Agency (CISA) information sharing forums and sources</a:t>
          </a:r>
          <a:endParaRPr lang="en-US" sz="1400" b="1" kern="1200">
            <a:solidFill>
              <a:srgbClr val="000000"/>
            </a:solidFill>
            <a:latin typeface="Gill Sans MT"/>
            <a:cs typeface="Arial"/>
          </a:endParaRPr>
        </a:p>
      </dsp:txBody>
      <dsp:txXfrm>
        <a:off x="5242204" y="2002692"/>
        <a:ext cx="4311566" cy="971050"/>
      </dsp:txXfrm>
    </dsp:sp>
    <dsp:sp modelId="{49915059-B486-4177-A2B4-C2FA26902DA7}">
      <dsp:nvSpPr>
        <dsp:cNvPr id="0" name=""/>
        <dsp:cNvSpPr/>
      </dsp:nvSpPr>
      <dsp:spPr>
        <a:xfrm>
          <a:off x="5242204" y="3033610"/>
          <a:ext cx="4311566" cy="324687"/>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0EC9E94-0D38-4A4A-8C69-110C94AF9239}" type="datetimeFigureOut">
              <a:rPr lang="en-US" smtClean="0"/>
              <a:t>8/16/2023</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85BA1B7D-5CCF-0A41-9A24-6ACFB6DEBDAB}" type="slidenum">
              <a:rPr lang="en-US" smtClean="0"/>
              <a:t>‹#›</a:t>
            </a:fld>
            <a:endParaRPr lang="en-US"/>
          </a:p>
        </p:txBody>
      </p:sp>
    </p:spTree>
    <p:extLst>
      <p:ext uri="{BB962C8B-B14F-4D97-AF65-F5344CB8AC3E}">
        <p14:creationId xmlns:p14="http://schemas.microsoft.com/office/powerpoint/2010/main" val="373840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653" indent="-241653">
              <a:buAutoNum type="arabicPeriod"/>
            </a:pPr>
            <a:r>
              <a:rPr lang="en-US"/>
              <a:t>**Insert Diagram**</a:t>
            </a:r>
          </a:p>
        </p:txBody>
      </p:sp>
      <p:sp>
        <p:nvSpPr>
          <p:cNvPr id="4" name="Slide Number Placeholder 3"/>
          <p:cNvSpPr>
            <a:spLocks noGrp="1"/>
          </p:cNvSpPr>
          <p:nvPr>
            <p:ph type="sldNum" sz="quarter" idx="5"/>
          </p:nvPr>
        </p:nvSpPr>
        <p:spPr/>
        <p:txBody>
          <a:bodyPr/>
          <a:lstStyle/>
          <a:p>
            <a:fld id="{85BA1B7D-5CCF-0A41-9A24-6ACFB6DEBDAB}" type="slidenum">
              <a:rPr lang="en-US" smtClean="0"/>
              <a:t>3</a:t>
            </a:fld>
            <a:endParaRPr lang="en-US"/>
          </a:p>
        </p:txBody>
      </p:sp>
    </p:spTree>
    <p:extLst>
      <p:ext uri="{BB962C8B-B14F-4D97-AF65-F5344CB8AC3E}">
        <p14:creationId xmlns:p14="http://schemas.microsoft.com/office/powerpoint/2010/main" val="3353255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i="0"/>
              <a:t>1. Take Inventory of Hardware &amp; Software Assets</a:t>
            </a:r>
            <a:endParaRPr lang="en-US"/>
          </a:p>
          <a:p>
            <a:pPr lvl="1"/>
            <a:r>
              <a:rPr lang="en-US" b="0" i="0"/>
              <a:t>a. Hardware Assets</a:t>
            </a:r>
            <a:endParaRPr lang="en-US"/>
          </a:p>
          <a:p>
            <a:pPr lvl="2"/>
            <a:r>
              <a:rPr lang="en-US" b="0" i="0" err="1"/>
              <a:t>i</a:t>
            </a:r>
            <a:r>
              <a:rPr lang="en-US" b="0" i="0"/>
              <a:t>. Actively manage, track, and correct end-user devices, including portable and mobile; network devices; non-computing/Internet of Things (IoT) devices; and servers) connected to the infrastructure physically, virtually, remotely, and those within cloud environments, to accurately know how many assets need to be monitored and protected within the company.</a:t>
            </a:r>
            <a:endParaRPr lang="en-US"/>
          </a:p>
          <a:p>
            <a:pPr lvl="2"/>
            <a:r>
              <a:rPr lang="en-US" b="0" i="0"/>
              <a:t>HOW: use </a:t>
            </a:r>
            <a:r>
              <a:rPr lang="en-US" b="1" i="0"/>
              <a:t>asset tags</a:t>
            </a:r>
            <a:r>
              <a:rPr lang="en-US" b="0" i="0"/>
              <a:t>, </a:t>
            </a:r>
            <a:r>
              <a:rPr lang="en-US" b="1" i="0"/>
              <a:t>decommission any unused hardware according to asset tag #</a:t>
            </a:r>
            <a:endParaRPr lang="en-US"/>
          </a:p>
          <a:p>
            <a:pPr lvl="2"/>
            <a:r>
              <a:rPr lang="en-US" b="0" i="0"/>
              <a:t>B.    Software Assets    </a:t>
            </a:r>
            <a:endParaRPr lang="en-US"/>
          </a:p>
          <a:p>
            <a:pPr lvl="3"/>
            <a:r>
              <a:rPr lang="en-US" b="0" i="0"/>
              <a:t>ii.  Actively manage (inventory, track, and correct) all software (operating systems and applications) on the network so that only authorized software is installed and can execute, and that unauthorized and unmanaged software is found and prevented from installation.</a:t>
            </a:r>
            <a:endParaRPr lang="en-US"/>
          </a:p>
          <a:p>
            <a:pPr lvl="4"/>
            <a:r>
              <a:rPr lang="en-US" b="1" i="0"/>
              <a:t>HOW: Keep track of license expiration date and # of purchased licenses </a:t>
            </a:r>
            <a:r>
              <a:rPr lang="en-US" b="1" i="0" err="1"/>
              <a:t>i.e</a:t>
            </a:r>
            <a:r>
              <a:rPr lang="en-US" b="1" i="0"/>
              <a:t>, Windows, Excel? Implement an ‘Allow’ list which can be reassessed bi-annually. Otherwise employees must request permission</a:t>
            </a:r>
            <a:endParaRPr lang="en-US"/>
          </a:p>
          <a:p>
            <a:endParaRPr lang="en-US"/>
          </a:p>
        </p:txBody>
      </p:sp>
      <p:sp>
        <p:nvSpPr>
          <p:cNvPr id="4" name="Slide Number Placeholder 3"/>
          <p:cNvSpPr>
            <a:spLocks noGrp="1"/>
          </p:cNvSpPr>
          <p:nvPr>
            <p:ph type="sldNum" sz="quarter" idx="5"/>
          </p:nvPr>
        </p:nvSpPr>
        <p:spPr/>
        <p:txBody>
          <a:bodyPr/>
          <a:lstStyle/>
          <a:p>
            <a:fld id="{85BA1B7D-5CCF-0A41-9A24-6ACFB6DEBDAB}" type="slidenum">
              <a:rPr lang="en-US" smtClean="0"/>
              <a:t>4</a:t>
            </a:fld>
            <a:endParaRPr lang="en-US"/>
          </a:p>
        </p:txBody>
      </p:sp>
    </p:spTree>
    <p:extLst>
      <p:ext uri="{BB962C8B-B14F-4D97-AF65-F5344CB8AC3E}">
        <p14:creationId xmlns:p14="http://schemas.microsoft.com/office/powerpoint/2010/main" val="1722727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*Insert Risk Chart*</a:t>
            </a:r>
          </a:p>
        </p:txBody>
      </p:sp>
      <p:sp>
        <p:nvSpPr>
          <p:cNvPr id="4" name="Slide Number Placeholder 3"/>
          <p:cNvSpPr>
            <a:spLocks noGrp="1"/>
          </p:cNvSpPr>
          <p:nvPr>
            <p:ph type="sldNum" sz="quarter" idx="5"/>
          </p:nvPr>
        </p:nvSpPr>
        <p:spPr/>
        <p:txBody>
          <a:bodyPr/>
          <a:lstStyle/>
          <a:p>
            <a:fld id="{85BA1B7D-5CCF-0A41-9A24-6ACFB6DEBDAB}" type="slidenum">
              <a:rPr lang="en-US" smtClean="0"/>
              <a:t>6</a:t>
            </a:fld>
            <a:endParaRPr lang="en-US"/>
          </a:p>
        </p:txBody>
      </p:sp>
    </p:spTree>
    <p:extLst>
      <p:ext uri="{BB962C8B-B14F-4D97-AF65-F5344CB8AC3E}">
        <p14:creationId xmlns:p14="http://schemas.microsoft.com/office/powerpoint/2010/main" val="2653790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HIPPA</a:t>
            </a:r>
          </a:p>
        </p:txBody>
      </p:sp>
      <p:sp>
        <p:nvSpPr>
          <p:cNvPr id="4" name="Slide Number Placeholder 3"/>
          <p:cNvSpPr>
            <a:spLocks noGrp="1"/>
          </p:cNvSpPr>
          <p:nvPr>
            <p:ph type="sldNum" sz="quarter" idx="5"/>
          </p:nvPr>
        </p:nvSpPr>
        <p:spPr/>
        <p:txBody>
          <a:bodyPr/>
          <a:lstStyle/>
          <a:p>
            <a:fld id="{85BA1B7D-5CCF-0A41-9A24-6ACFB6DEBDAB}" type="slidenum">
              <a:rPr lang="en-US" smtClean="0"/>
              <a:t>8</a:t>
            </a:fld>
            <a:endParaRPr lang="en-US"/>
          </a:p>
        </p:txBody>
      </p:sp>
    </p:spTree>
    <p:extLst>
      <p:ext uri="{BB962C8B-B14F-4D97-AF65-F5344CB8AC3E}">
        <p14:creationId xmlns:p14="http://schemas.microsoft.com/office/powerpoint/2010/main" val="4030428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BA1B7D-5CCF-0A41-9A24-6ACFB6DEBDAB}" type="slidenum">
              <a:rPr lang="en-US" smtClean="0"/>
              <a:t>9</a:t>
            </a:fld>
            <a:endParaRPr lang="en-US"/>
          </a:p>
        </p:txBody>
      </p:sp>
    </p:spTree>
    <p:extLst>
      <p:ext uri="{BB962C8B-B14F-4D97-AF65-F5344CB8AC3E}">
        <p14:creationId xmlns:p14="http://schemas.microsoft.com/office/powerpoint/2010/main" val="3461350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Employee education</a:t>
            </a:r>
          </a:p>
          <a:p>
            <a:r>
              <a:rPr lang="en-US"/>
              <a:t>	-</a:t>
            </a:r>
          </a:p>
        </p:txBody>
      </p:sp>
      <p:sp>
        <p:nvSpPr>
          <p:cNvPr id="4" name="Slide Number Placeholder 3"/>
          <p:cNvSpPr>
            <a:spLocks noGrp="1"/>
          </p:cNvSpPr>
          <p:nvPr>
            <p:ph type="sldNum" sz="quarter" idx="5"/>
          </p:nvPr>
        </p:nvSpPr>
        <p:spPr/>
        <p:txBody>
          <a:bodyPr/>
          <a:lstStyle/>
          <a:p>
            <a:fld id="{85BA1B7D-5CCF-0A41-9A24-6ACFB6DEBDAB}" type="slidenum">
              <a:rPr lang="en-US" smtClean="0"/>
              <a:t>10</a:t>
            </a:fld>
            <a:endParaRPr lang="en-US"/>
          </a:p>
        </p:txBody>
      </p:sp>
    </p:spTree>
    <p:extLst>
      <p:ext uri="{BB962C8B-B14F-4D97-AF65-F5344CB8AC3E}">
        <p14:creationId xmlns:p14="http://schemas.microsoft.com/office/powerpoint/2010/main" val="4290541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solidFill>
                <a:schemeClr val="bg1"/>
              </a:solidFill>
            </a:endParaRPr>
          </a:p>
        </p:txBody>
      </p:sp>
      <p:sp>
        <p:nvSpPr>
          <p:cNvPr id="6" name="Slide Number Placeholder 5"/>
          <p:cNvSpPr>
            <a:spLocks noGrp="1"/>
          </p:cNvSpPr>
          <p:nvPr>
            <p:ph type="sldNum" sz="quarter" idx="12"/>
          </p:nvPr>
        </p:nvSpPr>
        <p:spPr>
          <a:xfrm>
            <a:off x="1437664" y="798973"/>
            <a:ext cx="811019" cy="503578"/>
          </a:xfrm>
        </p:spPr>
        <p:txBody>
          <a:bodyPr/>
          <a:lstStyle/>
          <a:p>
            <a:pPr algn="l"/>
            <a:fld id="{F97E8200-1950-409B-82E7-99938E7AE355}" type="slidenum">
              <a:rPr lang="en-US" smtClean="0"/>
              <a:pPr algn="l"/>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407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5" name="Footer Placeholder 4"/>
          <p:cNvSpPr>
            <a:spLocks noGrp="1"/>
          </p:cNvSpPr>
          <p:nvPr>
            <p:ph type="ftr" sz="quarter" idx="11"/>
          </p:nvPr>
        </p:nvSpPr>
        <p:spPr/>
        <p:txBody>
          <a:bodyPr/>
          <a:lstStyle/>
          <a:p>
            <a:endParaRPr lang="en-US">
              <a:solidFill>
                <a:schemeClr val="tx1"/>
              </a:solidFill>
            </a:endParaRPr>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3567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5" name="Footer Placeholder 4"/>
          <p:cNvSpPr>
            <a:spLocks noGrp="1"/>
          </p:cNvSpPr>
          <p:nvPr>
            <p:ph type="ftr" sz="quarter" idx="11"/>
          </p:nvPr>
        </p:nvSpPr>
        <p:spPr/>
        <p:txBody>
          <a:bodyPr/>
          <a:lstStyle/>
          <a:p>
            <a:endParaRPr lang="en-US">
              <a:solidFill>
                <a:schemeClr val="tx1"/>
              </a:solidFill>
            </a:endParaRPr>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0420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6" name="Footer Placeholder 5"/>
          <p:cNvSpPr>
            <a:spLocks noGrp="1"/>
          </p:cNvSpPr>
          <p:nvPr>
            <p:ph type="ftr" sz="quarter" idx="11"/>
          </p:nvPr>
        </p:nvSpPr>
        <p:spPr/>
        <p:txBody>
          <a:bodyPr/>
          <a:lstStyle/>
          <a:p>
            <a:endParaRPr lang="en-US">
              <a:solidFill>
                <a:schemeClr val="tx1"/>
              </a:solidFill>
            </a:endParaRPr>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550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lgn="r"/>
            <a:fld id="{A37D6D71-8B28-4ED6-B932-04B197003D23}" type="datetimeFigureOut">
              <a:rPr lang="en-US" smtClean="0"/>
              <a:pPr algn="r"/>
              <a:t>8/16/2023</a:t>
            </a:fld>
            <a:endParaRPr lang="en-US" spc="50"/>
          </a:p>
        </p:txBody>
      </p:sp>
      <p:sp>
        <p:nvSpPr>
          <p:cNvPr id="8" name="Footer Placeholder 7"/>
          <p:cNvSpPr>
            <a:spLocks noGrp="1"/>
          </p:cNvSpPr>
          <p:nvPr>
            <p:ph type="ftr" sz="quarter" idx="11"/>
          </p:nvPr>
        </p:nvSpPr>
        <p:spPr/>
        <p:txBody>
          <a:bodyPr/>
          <a:lstStyle/>
          <a:p>
            <a:endParaRPr lang="en-US" spc="50"/>
          </a:p>
        </p:txBody>
      </p:sp>
      <p:sp>
        <p:nvSpPr>
          <p:cNvPr id="9" name="Slide Number Placeholder 8"/>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826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4" name="Footer Placeholder 3"/>
          <p:cNvSpPr>
            <a:spLocks noGrp="1"/>
          </p:cNvSpPr>
          <p:nvPr>
            <p:ph type="ftr" sz="quarter" idx="11"/>
          </p:nvPr>
        </p:nvSpPr>
        <p:spPr/>
        <p:txBody>
          <a:bodyPr/>
          <a:lstStyle/>
          <a:p>
            <a:endParaRPr lang="en-US">
              <a:solidFill>
                <a:schemeClr val="tx1"/>
              </a:solidFill>
            </a:endParaRPr>
          </a:p>
        </p:txBody>
      </p:sp>
      <p:sp>
        <p:nvSpPr>
          <p:cNvPr id="5" name="Slide Number Placeholder 4"/>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753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3" name="Footer Placeholder 2"/>
          <p:cNvSpPr>
            <a:spLocks noGrp="1"/>
          </p:cNvSpPr>
          <p:nvPr>
            <p:ph type="ftr" sz="quarter" idx="11"/>
          </p:nvPr>
        </p:nvSpPr>
        <p:spPr/>
        <p:txBody>
          <a:bodyPr/>
          <a:lstStyle/>
          <a:p>
            <a:endParaRPr lang="en-US">
              <a:solidFill>
                <a:schemeClr val="tx1"/>
              </a:solidFill>
            </a:endParaRPr>
          </a:p>
        </p:txBody>
      </p:sp>
      <p:sp>
        <p:nvSpPr>
          <p:cNvPr id="4" name="Slide Number Placeholder 3"/>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3830855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6" name="Footer Placeholder 5"/>
          <p:cNvSpPr>
            <a:spLocks noGrp="1"/>
          </p:cNvSpPr>
          <p:nvPr>
            <p:ph type="ftr" sz="quarter" idx="11"/>
          </p:nvPr>
        </p:nvSpPr>
        <p:spPr/>
        <p:txBody>
          <a:bodyPr/>
          <a:lstStyle/>
          <a:p>
            <a:endParaRPr lang="en-US">
              <a:solidFill>
                <a:schemeClr val="tx1"/>
              </a:solidFill>
            </a:endParaRPr>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1811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pPr algn="r"/>
            <a:fld id="{A37D6D71-8B28-4ED6-B932-04B197003D23}" type="datetimeFigureOut">
              <a:rPr lang="en-US" smtClean="0"/>
              <a:pPr algn="r"/>
              <a:t>8/16/2023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effectLst>
                <a:outerShdw blurRad="50800" dist="38100" dir="2700000" algn="tl" rotWithShape="0">
                  <a:prstClr val="black">
                    <a:alpha val="43000"/>
                  </a:prstClr>
                </a:outerShdw>
              </a:effectLst>
            </a:endParaRPr>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6280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5" name="Footer Placeholder 4"/>
          <p:cNvSpPr>
            <a:spLocks noGrp="1"/>
          </p:cNvSpPr>
          <p:nvPr>
            <p:ph type="ftr" sz="quarter" idx="11"/>
          </p:nvPr>
        </p:nvSpPr>
        <p:spPr/>
        <p:txBody>
          <a:bodyPr/>
          <a:lstStyle/>
          <a:p>
            <a:endParaRPr lang="en-US">
              <a:solidFill>
                <a:schemeClr val="tx1"/>
              </a:solidFill>
            </a:endParaRPr>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0553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8/16/2023</a:t>
            </a:fld>
            <a:endParaRPr lang="en-US"/>
          </a:p>
        </p:txBody>
      </p:sp>
      <p:sp>
        <p:nvSpPr>
          <p:cNvPr id="5" name="Footer Placeholder 4"/>
          <p:cNvSpPr>
            <a:spLocks noGrp="1"/>
          </p:cNvSpPr>
          <p:nvPr>
            <p:ph type="ftr" sz="quarter" idx="11"/>
          </p:nvPr>
        </p:nvSpPr>
        <p:spPr/>
        <p:txBody>
          <a:bodyPr/>
          <a:lstStyle/>
          <a:p>
            <a:endParaRPr lang="en-US">
              <a:solidFill>
                <a:schemeClr val="tx1"/>
              </a:solidFill>
            </a:endParaRPr>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0865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algn="r"/>
            <a:fld id="{A37D6D71-8B28-4ED6-B932-04B197003D23}" type="datetimeFigureOut">
              <a:rPr lang="en-US" smtClean="0"/>
              <a:pPr algn="r"/>
              <a:t>8/16/2023</a:t>
            </a:fld>
            <a:endParaRPr lang="en-US" spc="5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spc="5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algn="l"/>
            <a:fld id="{F97E8200-1950-409B-82E7-99938E7AE355}" type="slidenum">
              <a:rPr lang="en-US" smtClean="0"/>
              <a:pPr algn="l"/>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7494125"/>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Gembok hijau dalam sistem elektronik 3D">
            <a:extLst>
              <a:ext uri="{FF2B5EF4-FFF2-40B4-BE49-F238E27FC236}">
                <a16:creationId xmlns:a16="http://schemas.microsoft.com/office/drawing/2014/main" id="{30BC1F9A-698A-A9DD-8875-AC7B8DECF43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3"/>
          <a:stretch/>
        </p:blipFill>
        <p:spPr>
          <a:xfrm>
            <a:off x="20" y="0"/>
            <a:ext cx="12191980" cy="6857990"/>
          </a:xfrm>
          <a:prstGeom prst="rect">
            <a:avLst/>
          </a:prstGeom>
        </p:spPr>
      </p:pic>
      <p:sp>
        <p:nvSpPr>
          <p:cNvPr id="2" name="Title 1">
            <a:extLst>
              <a:ext uri="{FF2B5EF4-FFF2-40B4-BE49-F238E27FC236}">
                <a16:creationId xmlns:a16="http://schemas.microsoft.com/office/drawing/2014/main" id="{4AA687A6-3281-E03E-3355-AD79AFEDA1CF}"/>
              </a:ext>
            </a:extLst>
          </p:cNvPr>
          <p:cNvSpPr>
            <a:spLocks noGrp="1"/>
          </p:cNvSpPr>
          <p:nvPr>
            <p:ph type="ctrTitle"/>
          </p:nvPr>
        </p:nvSpPr>
        <p:spPr>
          <a:xfrm>
            <a:off x="961644" y="4968140"/>
            <a:ext cx="10268712" cy="833946"/>
          </a:xfrm>
        </p:spPr>
        <p:txBody>
          <a:bodyPr anchor="b">
            <a:normAutofit/>
          </a:bodyPr>
          <a:lstStyle/>
          <a:p>
            <a:r>
              <a:rPr lang="en-US" sz="2400" dirty="0">
                <a:solidFill>
                  <a:srgbClr val="FFFFFF"/>
                </a:solidFill>
              </a:rPr>
              <a:t>Cybersecurity Proposal for Headspace</a:t>
            </a:r>
          </a:p>
        </p:txBody>
      </p:sp>
      <p:sp>
        <p:nvSpPr>
          <p:cNvPr id="3" name="Subtitle 2">
            <a:extLst>
              <a:ext uri="{FF2B5EF4-FFF2-40B4-BE49-F238E27FC236}">
                <a16:creationId xmlns:a16="http://schemas.microsoft.com/office/drawing/2014/main" id="{B3318B70-AEB1-6D93-8DEC-35D0F9B71BF2}"/>
              </a:ext>
            </a:extLst>
          </p:cNvPr>
          <p:cNvSpPr>
            <a:spLocks noGrp="1"/>
          </p:cNvSpPr>
          <p:nvPr>
            <p:ph type="subTitle" idx="1"/>
          </p:nvPr>
        </p:nvSpPr>
        <p:spPr>
          <a:xfrm>
            <a:off x="961644" y="5630446"/>
            <a:ext cx="10268712" cy="428446"/>
          </a:xfrm>
        </p:spPr>
        <p:txBody>
          <a:bodyPr anchor="t">
            <a:normAutofit fontScale="62500" lnSpcReduction="20000"/>
          </a:bodyPr>
          <a:lstStyle/>
          <a:p>
            <a:r>
              <a:rPr lang="en-US" sz="2400"/>
              <a:t>Team </a:t>
            </a:r>
          </a:p>
        </p:txBody>
      </p:sp>
      <p:sp>
        <p:nvSpPr>
          <p:cNvPr id="6" name="TextBox 5">
            <a:extLst>
              <a:ext uri="{FF2B5EF4-FFF2-40B4-BE49-F238E27FC236}">
                <a16:creationId xmlns:a16="http://schemas.microsoft.com/office/drawing/2014/main" id="{9483A7B4-5F1E-5541-BD48-33AFFE261F17}"/>
              </a:ext>
            </a:extLst>
          </p:cNvPr>
          <p:cNvSpPr txBox="1"/>
          <p:nvPr/>
        </p:nvSpPr>
        <p:spPr>
          <a:xfrm>
            <a:off x="2900363" y="5802086"/>
            <a:ext cx="5729287"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956872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1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B4D80-F3D4-941C-98BC-98E6A288F179}"/>
              </a:ext>
            </a:extLst>
          </p:cNvPr>
          <p:cNvSpPr>
            <a:spLocks noGrp="1"/>
          </p:cNvSpPr>
          <p:nvPr>
            <p:ph type="title"/>
          </p:nvPr>
        </p:nvSpPr>
        <p:spPr>
          <a:xfrm>
            <a:off x="960120" y="990599"/>
            <a:ext cx="4857751" cy="566804"/>
          </a:xfrm>
        </p:spPr>
        <p:txBody>
          <a:bodyPr>
            <a:normAutofit/>
          </a:bodyPr>
          <a:lstStyle/>
          <a:p>
            <a:r>
              <a:rPr lang="en-US"/>
              <a:t>Overview</a:t>
            </a:r>
          </a:p>
        </p:txBody>
      </p:sp>
      <p:sp>
        <p:nvSpPr>
          <p:cNvPr id="3" name="Content Placeholder 2">
            <a:extLst>
              <a:ext uri="{FF2B5EF4-FFF2-40B4-BE49-F238E27FC236}">
                <a16:creationId xmlns:a16="http://schemas.microsoft.com/office/drawing/2014/main" id="{D879F1D5-B3DB-D8B5-2166-897C10104F46}"/>
              </a:ext>
            </a:extLst>
          </p:cNvPr>
          <p:cNvSpPr>
            <a:spLocks noGrp="1"/>
          </p:cNvSpPr>
          <p:nvPr>
            <p:ph idx="1"/>
          </p:nvPr>
        </p:nvSpPr>
        <p:spPr>
          <a:xfrm>
            <a:off x="960120" y="2197020"/>
            <a:ext cx="4924426" cy="2795492"/>
          </a:xfrm>
        </p:spPr>
        <p:txBody>
          <a:bodyPr>
            <a:normAutofit/>
          </a:bodyPr>
          <a:lstStyle/>
          <a:p>
            <a:pPr>
              <a:lnSpc>
                <a:spcPct val="91000"/>
              </a:lnSpc>
            </a:pPr>
            <a:r>
              <a:rPr lang="en-US" sz="2000"/>
              <a:t>Goals &amp; Objectives</a:t>
            </a:r>
          </a:p>
          <a:p>
            <a:pPr marL="514350" indent="-514350">
              <a:lnSpc>
                <a:spcPct val="91000"/>
              </a:lnSpc>
              <a:buFont typeface="+mj-lt"/>
              <a:buAutoNum type="arabicPeriod"/>
            </a:pPr>
            <a:r>
              <a:rPr lang="en-US" sz="2000"/>
              <a:t>Identify Cyber Risks/Threats to Headspace</a:t>
            </a:r>
          </a:p>
          <a:p>
            <a:pPr marL="514350" indent="-514350">
              <a:lnSpc>
                <a:spcPct val="91000"/>
              </a:lnSpc>
              <a:buFont typeface="+mj-lt"/>
              <a:buAutoNum type="arabicPeriod"/>
            </a:pPr>
            <a:r>
              <a:rPr lang="en-US" sz="2000"/>
              <a:t>Develop a Comprehensive Cybersecurity Plan</a:t>
            </a:r>
          </a:p>
          <a:p>
            <a:pPr marL="514350" indent="-514350">
              <a:lnSpc>
                <a:spcPct val="91000"/>
              </a:lnSpc>
              <a:buFont typeface="+mj-lt"/>
              <a:buAutoNum type="arabicPeriod"/>
            </a:pPr>
            <a:r>
              <a:rPr lang="en-US" sz="2000"/>
              <a:t>Implement the Cybersecurity Plan</a:t>
            </a:r>
          </a:p>
          <a:p>
            <a:pPr marL="514350" indent="-514350">
              <a:lnSpc>
                <a:spcPct val="91000"/>
              </a:lnSpc>
              <a:buFont typeface="+mj-lt"/>
              <a:buAutoNum type="arabicPeriod"/>
            </a:pPr>
            <a:endParaRPr lang="en-US" sz="2000"/>
          </a:p>
          <a:p>
            <a:pPr marL="514350" indent="-514350">
              <a:lnSpc>
                <a:spcPct val="91000"/>
              </a:lnSpc>
              <a:buFont typeface="+mj-lt"/>
              <a:buAutoNum type="arabicPeriod"/>
            </a:pPr>
            <a:endParaRPr lang="en-US" sz="2000"/>
          </a:p>
        </p:txBody>
      </p:sp>
      <p:pic>
        <p:nvPicPr>
          <p:cNvPr id="15" name="Picture 4" descr="An arrow hitting a bull's eye target">
            <a:extLst>
              <a:ext uri="{FF2B5EF4-FFF2-40B4-BE49-F238E27FC236}">
                <a16:creationId xmlns:a16="http://schemas.microsoft.com/office/drawing/2014/main" id="{BB4CE245-7748-891C-6A3B-4A2AC5BCFC65}"/>
              </a:ext>
            </a:extLst>
          </p:cNvPr>
          <p:cNvPicPr>
            <a:picLocks noChangeAspect="1"/>
          </p:cNvPicPr>
          <p:nvPr/>
        </p:nvPicPr>
        <p:blipFill rotWithShape="1">
          <a:blip r:embed="rId2"/>
          <a:srcRect t="4685" r="-1" b="4892"/>
          <a:stretch/>
        </p:blipFill>
        <p:spPr>
          <a:xfrm>
            <a:off x="6776467" y="664432"/>
            <a:ext cx="4750056" cy="4295099"/>
          </a:xfrm>
          <a:prstGeom prst="rect">
            <a:avLst/>
          </a:prstGeom>
        </p:spPr>
      </p:pic>
    </p:spTree>
    <p:extLst>
      <p:ext uri="{BB962C8B-B14F-4D97-AF65-F5344CB8AC3E}">
        <p14:creationId xmlns:p14="http://schemas.microsoft.com/office/powerpoint/2010/main" val="371787427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B212-FA9B-95C8-9F29-BC68F0620B64}"/>
              </a:ext>
            </a:extLst>
          </p:cNvPr>
          <p:cNvSpPr>
            <a:spLocks noGrp="1"/>
          </p:cNvSpPr>
          <p:nvPr>
            <p:ph type="title"/>
          </p:nvPr>
        </p:nvSpPr>
        <p:spPr>
          <a:xfrm>
            <a:off x="960120" y="317814"/>
            <a:ext cx="10268712" cy="713404"/>
          </a:xfrm>
        </p:spPr>
        <p:txBody>
          <a:bodyPr>
            <a:normAutofit/>
          </a:bodyPr>
          <a:lstStyle/>
          <a:p>
            <a:r>
              <a:rPr lang="en-US" sz="2400"/>
              <a:t>Prioritize assets</a:t>
            </a:r>
          </a:p>
        </p:txBody>
      </p:sp>
      <p:sp>
        <p:nvSpPr>
          <p:cNvPr id="12" name="Content Placeholder 11">
            <a:extLst>
              <a:ext uri="{FF2B5EF4-FFF2-40B4-BE49-F238E27FC236}">
                <a16:creationId xmlns:a16="http://schemas.microsoft.com/office/drawing/2014/main" id="{4E148133-761B-8FEF-B6DE-BA6516F42EBC}"/>
              </a:ext>
            </a:extLst>
          </p:cNvPr>
          <p:cNvSpPr>
            <a:spLocks noGrp="1"/>
          </p:cNvSpPr>
          <p:nvPr>
            <p:ph idx="1"/>
          </p:nvPr>
        </p:nvSpPr>
        <p:spPr/>
        <p:txBody>
          <a:bodyPr vert="horz" lIns="91440" tIns="45720" rIns="91440" bIns="45720" rtlCol="0" anchor="t">
            <a:normAutofit/>
          </a:bodyPr>
          <a:lstStyle/>
          <a:p>
            <a:pPr marL="228600" indent="-228600">
              <a:buAutoNum type="arabicPeriod"/>
            </a:pPr>
            <a:r>
              <a:rPr lang="en-US" sz="1600"/>
              <a:t> App – THE MOST IMPORTANT ASSET</a:t>
            </a:r>
          </a:p>
          <a:p>
            <a:pPr marL="228600" indent="-228600">
              <a:buAutoNum type="arabicPeriod"/>
            </a:pPr>
            <a:r>
              <a:rPr lang="en-US" sz="1600"/>
              <a:t> Data</a:t>
            </a:r>
          </a:p>
          <a:p>
            <a:pPr marL="228600" indent="-228600">
              <a:buAutoNum type="arabicPeriod"/>
            </a:pPr>
            <a:r>
              <a:rPr lang="en-US" sz="1600"/>
              <a:t> Hardware</a:t>
            </a:r>
          </a:p>
          <a:p>
            <a:pPr marL="228600" indent="-228600">
              <a:buAutoNum type="arabicPeriod"/>
            </a:pPr>
            <a:r>
              <a:rPr lang="en-US" sz="1600"/>
              <a:t> Software</a:t>
            </a:r>
          </a:p>
          <a:p>
            <a:endParaRPr lang="en-US"/>
          </a:p>
        </p:txBody>
      </p:sp>
    </p:spTree>
    <p:extLst>
      <p:ext uri="{BB962C8B-B14F-4D97-AF65-F5344CB8AC3E}">
        <p14:creationId xmlns:p14="http://schemas.microsoft.com/office/powerpoint/2010/main" val="492934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D3BA2-6D7A-6940-E29B-49412E27B2BE}"/>
              </a:ext>
            </a:extLst>
          </p:cNvPr>
          <p:cNvSpPr>
            <a:spLocks noGrp="1"/>
          </p:cNvSpPr>
          <p:nvPr>
            <p:ph type="title"/>
          </p:nvPr>
        </p:nvSpPr>
        <p:spPr>
          <a:xfrm>
            <a:off x="480060" y="1057275"/>
            <a:ext cx="11231880" cy="691567"/>
          </a:xfrm>
        </p:spPr>
        <p:txBody>
          <a:bodyPr>
            <a:normAutofit/>
          </a:bodyPr>
          <a:lstStyle/>
          <a:p>
            <a:r>
              <a:rPr lang="en-US" sz="2400"/>
              <a:t>Asset management                           </a:t>
            </a:r>
            <a:r>
              <a:rPr lang="en-US" sz="2400" err="1"/>
              <a:t>v.s</a:t>
            </a:r>
            <a:r>
              <a:rPr lang="en-US" sz="2400"/>
              <a:t>.                    Account Management</a:t>
            </a:r>
          </a:p>
        </p:txBody>
      </p:sp>
      <p:graphicFrame>
        <p:nvGraphicFramePr>
          <p:cNvPr id="5" name="Content Placeholder 2">
            <a:extLst>
              <a:ext uri="{FF2B5EF4-FFF2-40B4-BE49-F238E27FC236}">
                <a16:creationId xmlns:a16="http://schemas.microsoft.com/office/drawing/2014/main" id="{3C6EFC92-F71C-5732-C7BD-26204A189FFC}"/>
              </a:ext>
            </a:extLst>
          </p:cNvPr>
          <p:cNvGraphicFramePr>
            <a:graphicFrameLocks noGrp="1"/>
          </p:cNvGraphicFramePr>
          <p:nvPr>
            <p:ph idx="1"/>
            <p:extLst>
              <p:ext uri="{D42A27DB-BD31-4B8C-83A1-F6EECF244321}">
                <p14:modId xmlns:p14="http://schemas.microsoft.com/office/powerpoint/2010/main" val="929160102"/>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0637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C42E-FDE5-7FC4-6B30-F95667ECBDA7}"/>
              </a:ext>
            </a:extLst>
          </p:cNvPr>
          <p:cNvSpPr>
            <a:spLocks noGrp="1"/>
          </p:cNvSpPr>
          <p:nvPr>
            <p:ph type="title"/>
          </p:nvPr>
        </p:nvSpPr>
        <p:spPr>
          <a:xfrm>
            <a:off x="1451579" y="804519"/>
            <a:ext cx="9603275" cy="1049235"/>
          </a:xfrm>
        </p:spPr>
        <p:txBody>
          <a:bodyPr>
            <a:normAutofit/>
          </a:bodyPr>
          <a:lstStyle/>
          <a:p>
            <a:r>
              <a:rPr lang="en-US"/>
              <a:t>Risk management</a:t>
            </a:r>
          </a:p>
        </p:txBody>
      </p:sp>
      <p:graphicFrame>
        <p:nvGraphicFramePr>
          <p:cNvPr id="70" name="Content Placeholder 2">
            <a:extLst>
              <a:ext uri="{FF2B5EF4-FFF2-40B4-BE49-F238E27FC236}">
                <a16:creationId xmlns:a16="http://schemas.microsoft.com/office/drawing/2014/main" id="{E4F72641-9A19-D4B3-45EF-D1A983920960}"/>
              </a:ext>
            </a:extLst>
          </p:cNvPr>
          <p:cNvGraphicFramePr>
            <a:graphicFrameLocks noGrp="1"/>
          </p:cNvGraphicFramePr>
          <p:nvPr>
            <p:ph idx="1"/>
          </p:nvPr>
        </p:nvGraphicFramePr>
        <p:xfrm>
          <a:off x="1451579" y="2286000"/>
          <a:ext cx="9603771" cy="33789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4300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FB47-31CC-20CB-79A2-108F006E5BA4}"/>
              </a:ext>
            </a:extLst>
          </p:cNvPr>
          <p:cNvSpPr>
            <a:spLocks noGrp="1"/>
          </p:cNvSpPr>
          <p:nvPr>
            <p:ph type="title"/>
          </p:nvPr>
        </p:nvSpPr>
        <p:spPr>
          <a:xfrm>
            <a:off x="907220" y="1179330"/>
            <a:ext cx="10214288" cy="571500"/>
          </a:xfrm>
        </p:spPr>
        <p:txBody>
          <a:bodyPr>
            <a:noAutofit/>
          </a:bodyPr>
          <a:lstStyle/>
          <a:p>
            <a:r>
              <a:rPr lang="en-US" sz="4000"/>
              <a:t>Prioritize risks</a:t>
            </a:r>
          </a:p>
        </p:txBody>
      </p:sp>
      <p:sp>
        <p:nvSpPr>
          <p:cNvPr id="3" name="Content Placeholder 2">
            <a:extLst>
              <a:ext uri="{FF2B5EF4-FFF2-40B4-BE49-F238E27FC236}">
                <a16:creationId xmlns:a16="http://schemas.microsoft.com/office/drawing/2014/main" id="{BDBE2686-44CA-A5BE-9FC8-743FAF9DAE25}"/>
              </a:ext>
            </a:extLst>
          </p:cNvPr>
          <p:cNvSpPr>
            <a:spLocks noGrp="1"/>
          </p:cNvSpPr>
          <p:nvPr>
            <p:ph idx="1"/>
          </p:nvPr>
        </p:nvSpPr>
        <p:spPr>
          <a:xfrm>
            <a:off x="852796" y="2534090"/>
            <a:ext cx="10268712" cy="3593592"/>
          </a:xfrm>
        </p:spPr>
        <p:txBody>
          <a:bodyPr vert="horz" lIns="91440" tIns="45720" rIns="91440" bIns="45720" rtlCol="0" anchor="t">
            <a:normAutofit/>
          </a:bodyPr>
          <a:lstStyle/>
          <a:p>
            <a:r>
              <a:rPr lang="en-US" sz="1600"/>
              <a:t>RISK ASSESSMENT</a:t>
            </a:r>
          </a:p>
          <a:p>
            <a:pPr marL="571500" indent="-571500">
              <a:buFont typeface="+mj-lt"/>
              <a:buAutoNum type="romanUcPeriod"/>
            </a:pPr>
            <a:r>
              <a:rPr lang="en-US" sz="1600"/>
              <a:t>HIGH</a:t>
            </a:r>
          </a:p>
          <a:p>
            <a:pPr marL="1028700" lvl="1" indent="-571500">
              <a:buFont typeface="+mj-lt"/>
              <a:buAutoNum type="romanUcPeriod"/>
            </a:pPr>
            <a:r>
              <a:rPr lang="en-US" sz="1400" b="0" i="0">
                <a:solidFill>
                  <a:srgbClr val="000000"/>
                </a:solidFill>
                <a:effectLst/>
                <a:latin typeface="Arial" panose="020B0604020202020204" pitchFamily="34" charset="0"/>
              </a:rPr>
              <a:t>Malware infections through email attachments and links</a:t>
            </a:r>
          </a:p>
          <a:p>
            <a:pPr marL="1028700" lvl="1" indent="-571500">
              <a:buFont typeface="+mj-lt"/>
              <a:buAutoNum type="romanUcPeriod"/>
            </a:pPr>
            <a:endParaRPr lang="en-US" sz="1400"/>
          </a:p>
          <a:p>
            <a:pPr marL="571500" indent="-571500">
              <a:buFont typeface="+mj-lt"/>
              <a:buAutoNum type="romanUcPeriod"/>
            </a:pPr>
            <a:r>
              <a:rPr lang="en-US" sz="1600"/>
              <a:t>MEDIUM</a:t>
            </a:r>
          </a:p>
          <a:p>
            <a:pPr marL="571500" indent="-571500">
              <a:buFont typeface="+mj-lt"/>
              <a:buAutoNum type="romanUcPeriod"/>
            </a:pPr>
            <a:r>
              <a:rPr lang="en-US" sz="1600"/>
              <a:t>LOW</a:t>
            </a:r>
          </a:p>
        </p:txBody>
      </p:sp>
      <p:pic>
        <p:nvPicPr>
          <p:cNvPr id="4" name="Picture 3" descr="A screenshot of a computer&#10;&#10;Description automatically generated">
            <a:extLst>
              <a:ext uri="{FF2B5EF4-FFF2-40B4-BE49-F238E27FC236}">
                <a16:creationId xmlns:a16="http://schemas.microsoft.com/office/drawing/2014/main" id="{6E78FD5E-836F-C444-AEA7-933BD28C07D3}"/>
              </a:ext>
            </a:extLst>
          </p:cNvPr>
          <p:cNvPicPr>
            <a:picLocks noChangeAspect="1"/>
          </p:cNvPicPr>
          <p:nvPr/>
        </p:nvPicPr>
        <p:blipFill>
          <a:blip r:embed="rId3"/>
          <a:stretch>
            <a:fillRect/>
          </a:stretch>
        </p:blipFill>
        <p:spPr>
          <a:xfrm>
            <a:off x="491639" y="2166900"/>
            <a:ext cx="11043048" cy="3076476"/>
          </a:xfrm>
          <a:prstGeom prst="rect">
            <a:avLst/>
          </a:prstGeom>
        </p:spPr>
      </p:pic>
    </p:spTree>
    <p:extLst>
      <p:ext uri="{BB962C8B-B14F-4D97-AF65-F5344CB8AC3E}">
        <p14:creationId xmlns:p14="http://schemas.microsoft.com/office/powerpoint/2010/main" val="2214214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6BC0-14BD-D895-78D5-12E526A07159}"/>
              </a:ext>
            </a:extLst>
          </p:cNvPr>
          <p:cNvSpPr>
            <a:spLocks noGrp="1"/>
          </p:cNvSpPr>
          <p:nvPr>
            <p:ph type="title"/>
          </p:nvPr>
        </p:nvSpPr>
        <p:spPr/>
        <p:txBody>
          <a:bodyPr/>
          <a:lstStyle/>
          <a:p>
            <a:r>
              <a:rPr lang="en-US"/>
              <a:t>Risk mitigation</a:t>
            </a:r>
          </a:p>
        </p:txBody>
      </p:sp>
      <p:pic>
        <p:nvPicPr>
          <p:cNvPr id="4" name="Content Placeholder 3">
            <a:extLst>
              <a:ext uri="{FF2B5EF4-FFF2-40B4-BE49-F238E27FC236}">
                <a16:creationId xmlns:a16="http://schemas.microsoft.com/office/drawing/2014/main" id="{A45984DD-7F71-5BA8-542B-362EAB7EC545}"/>
              </a:ext>
            </a:extLst>
          </p:cNvPr>
          <p:cNvPicPr>
            <a:picLocks noGrp="1" noChangeAspect="1"/>
          </p:cNvPicPr>
          <p:nvPr>
            <p:ph idx="1"/>
          </p:nvPr>
        </p:nvPicPr>
        <p:blipFill>
          <a:blip r:embed="rId2"/>
          <a:stretch>
            <a:fillRect/>
          </a:stretch>
        </p:blipFill>
        <p:spPr>
          <a:xfrm>
            <a:off x="533507" y="2260421"/>
            <a:ext cx="11255804" cy="3502897"/>
          </a:xfrm>
        </p:spPr>
      </p:pic>
    </p:spTree>
    <p:extLst>
      <p:ext uri="{BB962C8B-B14F-4D97-AF65-F5344CB8AC3E}">
        <p14:creationId xmlns:p14="http://schemas.microsoft.com/office/powerpoint/2010/main" val="3685741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53" name="Rectangle 31">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22CBE-645B-026D-7671-A3D6838D080E}"/>
              </a:ext>
            </a:extLst>
          </p:cNvPr>
          <p:cNvSpPr>
            <a:spLocks noGrp="1"/>
          </p:cNvSpPr>
          <p:nvPr>
            <p:ph type="title"/>
          </p:nvPr>
        </p:nvSpPr>
        <p:spPr>
          <a:xfrm>
            <a:off x="1451579" y="804519"/>
            <a:ext cx="9603275" cy="1049235"/>
          </a:xfrm>
        </p:spPr>
        <p:txBody>
          <a:bodyPr>
            <a:normAutofit/>
          </a:bodyPr>
          <a:lstStyle/>
          <a:p>
            <a:r>
              <a:rPr lang="en-US"/>
              <a:t>Framework GUIDELINES</a:t>
            </a:r>
          </a:p>
        </p:txBody>
      </p:sp>
      <p:cxnSp>
        <p:nvCxnSpPr>
          <p:cNvPr id="54" name="Straight Connector 33">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5" name="Rectangle 35">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27" name="Content Placeholder 2">
            <a:extLst>
              <a:ext uri="{FF2B5EF4-FFF2-40B4-BE49-F238E27FC236}">
                <a16:creationId xmlns:a16="http://schemas.microsoft.com/office/drawing/2014/main" id="{9F1BEDB9-AB1A-D642-759A-E0C83C9155B9}"/>
              </a:ext>
            </a:extLst>
          </p:cNvPr>
          <p:cNvGraphicFramePr>
            <a:graphicFrameLocks noGrp="1"/>
          </p:cNvGraphicFramePr>
          <p:nvPr>
            <p:ph idx="1"/>
            <p:extLst>
              <p:ext uri="{D42A27DB-BD31-4B8C-83A1-F6EECF244321}">
                <p14:modId xmlns:p14="http://schemas.microsoft.com/office/powerpoint/2010/main" val="365394911"/>
              </p:ext>
            </p:extLst>
          </p:nvPr>
        </p:nvGraphicFramePr>
        <p:xfrm>
          <a:off x="1451579" y="2331497"/>
          <a:ext cx="9603771" cy="37232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23106EC9-9015-1973-3830-49C6AC2B6028}"/>
              </a:ext>
            </a:extLst>
          </p:cNvPr>
          <p:cNvSpPr txBox="1"/>
          <p:nvPr/>
        </p:nvSpPr>
        <p:spPr>
          <a:xfrm>
            <a:off x="4186238" y="1014413"/>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90752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02CF4-1C5C-CECF-4B1D-E6E13A75F67C}"/>
              </a:ext>
            </a:extLst>
          </p:cNvPr>
          <p:cNvSpPr>
            <a:spLocks noGrp="1"/>
          </p:cNvSpPr>
          <p:nvPr>
            <p:ph type="title"/>
          </p:nvPr>
        </p:nvSpPr>
        <p:spPr/>
        <p:txBody>
          <a:bodyPr/>
          <a:lstStyle/>
          <a:p>
            <a:r>
              <a:rPr lang="en-US"/>
              <a:t>Timeline/Roadmap</a:t>
            </a:r>
          </a:p>
        </p:txBody>
      </p:sp>
      <p:pic>
        <p:nvPicPr>
          <p:cNvPr id="2050" name="Picture 2">
            <a:extLst>
              <a:ext uri="{FF2B5EF4-FFF2-40B4-BE49-F238E27FC236}">
                <a16:creationId xmlns:a16="http://schemas.microsoft.com/office/drawing/2014/main" id="{A94CD60C-75E0-6B73-E8B0-A57680C8B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28" y="421172"/>
            <a:ext cx="4466018" cy="61934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timeline with numbers and text&#10;&#10;Description automatically generated">
            <a:extLst>
              <a:ext uri="{FF2B5EF4-FFF2-40B4-BE49-F238E27FC236}">
                <a16:creationId xmlns:a16="http://schemas.microsoft.com/office/drawing/2014/main" id="{1B6DB700-AB93-B467-D3CA-D2F696C45E87}"/>
              </a:ext>
            </a:extLst>
          </p:cNvPr>
          <p:cNvPicPr>
            <a:picLocks noChangeAspect="1"/>
          </p:cNvPicPr>
          <p:nvPr/>
        </p:nvPicPr>
        <p:blipFill>
          <a:blip r:embed="rId4"/>
          <a:stretch>
            <a:fillRect/>
          </a:stretch>
        </p:blipFill>
        <p:spPr>
          <a:xfrm rot="5400000">
            <a:off x="3775919" y="1242217"/>
            <a:ext cx="6194609" cy="4559202"/>
          </a:xfrm>
          <a:prstGeom prst="rect">
            <a:avLst/>
          </a:prstGeom>
        </p:spPr>
      </p:pic>
      <p:pic>
        <p:nvPicPr>
          <p:cNvPr id="6" name="Picture 5">
            <a:extLst>
              <a:ext uri="{FF2B5EF4-FFF2-40B4-BE49-F238E27FC236}">
                <a16:creationId xmlns:a16="http://schemas.microsoft.com/office/drawing/2014/main" id="{A2111555-D42A-58AB-C1A4-035BF755073B}"/>
              </a:ext>
            </a:extLst>
          </p:cNvPr>
          <p:cNvPicPr>
            <a:picLocks noChangeAspect="1"/>
          </p:cNvPicPr>
          <p:nvPr/>
        </p:nvPicPr>
        <p:blipFill>
          <a:blip r:embed="rId5"/>
          <a:stretch>
            <a:fillRect/>
          </a:stretch>
        </p:blipFill>
        <p:spPr>
          <a:xfrm rot="5400000">
            <a:off x="9493860" y="113232"/>
            <a:ext cx="2304306" cy="3000179"/>
          </a:xfrm>
          <a:prstGeom prst="rect">
            <a:avLst/>
          </a:prstGeom>
        </p:spPr>
      </p:pic>
    </p:spTree>
    <p:extLst>
      <p:ext uri="{BB962C8B-B14F-4D97-AF65-F5344CB8AC3E}">
        <p14:creationId xmlns:p14="http://schemas.microsoft.com/office/powerpoint/2010/main" val="289194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462B9-797A-678B-C7A5-6638CFB0864E}"/>
              </a:ext>
            </a:extLst>
          </p:cNvPr>
          <p:cNvSpPr>
            <a:spLocks noGrp="1"/>
          </p:cNvSpPr>
          <p:nvPr>
            <p:ph type="title"/>
          </p:nvPr>
        </p:nvSpPr>
        <p:spPr>
          <a:xfrm>
            <a:off x="1217444" y="1257301"/>
            <a:ext cx="10071543" cy="914400"/>
          </a:xfrm>
        </p:spPr>
        <p:txBody>
          <a:bodyPr>
            <a:normAutofit/>
          </a:bodyPr>
          <a:lstStyle/>
          <a:p>
            <a:r>
              <a:rPr lang="en-US" sz="2400"/>
              <a:t>Call to action</a:t>
            </a:r>
          </a:p>
        </p:txBody>
      </p:sp>
      <p:sp>
        <p:nvSpPr>
          <p:cNvPr id="3" name="Content Placeholder 2">
            <a:extLst>
              <a:ext uri="{FF2B5EF4-FFF2-40B4-BE49-F238E27FC236}">
                <a16:creationId xmlns:a16="http://schemas.microsoft.com/office/drawing/2014/main" id="{DFCA92BC-2B78-2517-B1CD-B54FBF7D2325}"/>
              </a:ext>
            </a:extLst>
          </p:cNvPr>
          <p:cNvSpPr>
            <a:spLocks noGrp="1"/>
          </p:cNvSpPr>
          <p:nvPr>
            <p:ph idx="1"/>
          </p:nvPr>
        </p:nvSpPr>
        <p:spPr/>
        <p:txBody>
          <a:bodyPr vert="horz" lIns="91440" tIns="45720" rIns="91440" bIns="45720" rtlCol="0" anchor="t">
            <a:normAutofit/>
          </a:bodyPr>
          <a:lstStyle/>
          <a:p>
            <a:pPr marL="731520" lvl="1" indent="-457200">
              <a:buFont typeface="Arial" panose="020B0604020202020204" pitchFamily="34" charset="0"/>
              <a:buChar char="•"/>
            </a:pPr>
            <a:r>
              <a:rPr lang="en-US" sz="1600"/>
              <a:t>EMPLOYEE EDUCATION- We will train employees on how to recognize/identify</a:t>
            </a:r>
          </a:p>
          <a:p>
            <a:pPr marL="1188720" lvl="2" indent="-457200"/>
            <a:r>
              <a:rPr lang="en-US" sz="1400"/>
              <a:t>Social Engineering Tactics</a:t>
            </a:r>
          </a:p>
          <a:p>
            <a:pPr marL="1188720" lvl="2" indent="-457200"/>
            <a:r>
              <a:rPr lang="en-US" sz="1400"/>
              <a:t>Phishing</a:t>
            </a:r>
          </a:p>
          <a:p>
            <a:pPr marL="731520" lvl="1" indent="-457200">
              <a:buFont typeface="Arial" panose="020B0604020202020204" pitchFamily="34" charset="0"/>
              <a:buChar char="•"/>
            </a:pPr>
            <a:r>
              <a:rPr lang="en-US" sz="1600"/>
              <a:t>Run Simulations </a:t>
            </a:r>
          </a:p>
          <a:p>
            <a:pPr marL="731520" lvl="1" indent="-457200"/>
            <a:r>
              <a:rPr lang="en-US" sz="1600"/>
              <a:t>Security alert staff</a:t>
            </a:r>
          </a:p>
          <a:p>
            <a:pPr marL="731520" lvl="1" indent="-457200"/>
            <a:r>
              <a:rPr lang="en-US" sz="1600"/>
              <a:t>Secure Network and App</a:t>
            </a:r>
          </a:p>
          <a:p>
            <a:pPr marL="731520" lvl="1" indent="-457200"/>
            <a:r>
              <a:rPr lang="en-US" sz="1600"/>
              <a:t>Established protection, monitoring and response to Incidents.</a:t>
            </a:r>
          </a:p>
          <a:p>
            <a:pPr marL="731520" lvl="1" indent="-457200"/>
            <a:endParaRPr lang="en-US" sz="1600"/>
          </a:p>
          <a:p>
            <a:pPr marL="731520" lvl="1" indent="-457200"/>
            <a:r>
              <a:rPr lang="en-US" sz="1600"/>
              <a:t>“TIME IS MONEY $$$,  AND WE ARE SAVING YOU TIME, SO THEREFORE WE ARE SAVING YOU MONEY!” </a:t>
            </a:r>
            <a:r>
              <a:rPr lang="en-US" sz="1600">
                <a:sym typeface="Wingdings" pitchFamily="2" charset="2"/>
              </a:rPr>
              <a:t></a:t>
            </a:r>
            <a:endParaRPr lang="en-US" sz="1600"/>
          </a:p>
        </p:txBody>
      </p:sp>
    </p:spTree>
    <p:extLst>
      <p:ext uri="{BB962C8B-B14F-4D97-AF65-F5344CB8AC3E}">
        <p14:creationId xmlns:p14="http://schemas.microsoft.com/office/powerpoint/2010/main" val="66595168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TotalTime>
  <Words>555</Words>
  <Application>Microsoft Office PowerPoint</Application>
  <PresentationFormat>Widescreen</PresentationFormat>
  <Paragraphs>72</Paragraphs>
  <Slides>10</Slides>
  <Notes>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Gill Sans MT</vt:lpstr>
      <vt:lpstr>Gallery</vt:lpstr>
      <vt:lpstr>Cybersecurity Proposal for Headspace</vt:lpstr>
      <vt:lpstr>Overview</vt:lpstr>
      <vt:lpstr>Prioritize assets</vt:lpstr>
      <vt:lpstr>Asset management                           v.s.                    Account Management</vt:lpstr>
      <vt:lpstr>Risk management</vt:lpstr>
      <vt:lpstr>Prioritize risks</vt:lpstr>
      <vt:lpstr>Risk mitigation</vt:lpstr>
      <vt:lpstr>Framework GUIDELINES</vt:lpstr>
      <vt:lpstr>Timeline/Roadmap</vt:lpstr>
      <vt:lpstr>Call to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Proposal</dc:title>
  <dc:creator>Renee Jackson</dc:creator>
  <cp:lastModifiedBy>Sharon Sylvester</cp:lastModifiedBy>
  <cp:revision>6</cp:revision>
  <cp:lastPrinted>2023-08-17T19:44:11Z</cp:lastPrinted>
  <dcterms:created xsi:type="dcterms:W3CDTF">2023-08-16T01:09:02Z</dcterms:created>
  <dcterms:modified xsi:type="dcterms:W3CDTF">2023-08-17T21:13:58Z</dcterms:modified>
</cp:coreProperties>
</file>